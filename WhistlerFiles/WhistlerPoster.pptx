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162E6A"/>
    <a:srgbClr val="BBE0E3"/>
    <a:srgbClr val="7A6C52"/>
    <a:srgbClr val="B9A182"/>
    <a:srgbClr val="82765C"/>
    <a:srgbClr val="DAE9EB"/>
    <a:srgbClr val="A97D6B"/>
    <a:srgbClr val="F6D596"/>
    <a:srgbClr val="DCD7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2" d="100"/>
          <a:sy n="32" d="100"/>
        </p:scale>
        <p:origin x="-3187" y="-18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0C12B3-93C5-4D93-B7BE-F2AB52B2B323}"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1027929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C12B3-93C5-4D93-B7BE-F2AB52B2B323}"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2645802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C12B3-93C5-4D93-B7BE-F2AB52B2B323}"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3231605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0C12B3-93C5-4D93-B7BE-F2AB52B2B323}"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469175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0C12B3-93C5-4D93-B7BE-F2AB52B2B323}" type="datetimeFigureOut">
              <a:rPr lang="en-US" smtClean="0"/>
              <a:t>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3182991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0C12B3-93C5-4D93-B7BE-F2AB52B2B323}" type="datetimeFigureOut">
              <a:rPr lang="en-US" smtClean="0"/>
              <a:t>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105527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C12B3-93C5-4D93-B7BE-F2AB52B2B323}" type="datetimeFigureOut">
              <a:rPr lang="en-US" smtClean="0"/>
              <a:t>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224803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60C12B3-93C5-4D93-B7BE-F2AB52B2B323}"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580228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60C12B3-93C5-4D93-B7BE-F2AB52B2B323}"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298024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C12B3-93C5-4D93-B7BE-F2AB52B2B323}"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233493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C12B3-93C5-4D93-B7BE-F2AB52B2B323}"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25B8D-EE6B-48EA-A574-E5B5D56EC939}" type="slidenum">
              <a:rPr lang="en-US" smtClean="0"/>
              <a:t>‹#›</a:t>
            </a:fld>
            <a:endParaRPr lang="en-US"/>
          </a:p>
        </p:txBody>
      </p:sp>
    </p:spTree>
    <p:extLst>
      <p:ext uri="{BB962C8B-B14F-4D97-AF65-F5344CB8AC3E}">
        <p14:creationId xmlns:p14="http://schemas.microsoft.com/office/powerpoint/2010/main" val="445868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F60C12B3-93C5-4D93-B7BE-F2AB52B2B323}" type="datetimeFigureOut">
              <a:rPr lang="en-US" smtClean="0"/>
              <a:t>1/7/2025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1C025B8D-EE6B-48EA-A574-E5B5D56EC939}" type="slidenum">
              <a:rPr lang="en-US" smtClean="0"/>
              <a:t>‹#›</a:t>
            </a:fld>
            <a:endParaRPr lang="en-US"/>
          </a:p>
        </p:txBody>
      </p:sp>
    </p:spTree>
    <p:extLst>
      <p:ext uri="{BB962C8B-B14F-4D97-AF65-F5344CB8AC3E}">
        <p14:creationId xmlns:p14="http://schemas.microsoft.com/office/powerpoint/2010/main" val="14468348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microsoft.com/office/2007/relationships/hdphoto" Target="../media/hdphoto1.wdp"/><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6.png"/><Relationship Id="rId7" Type="http://schemas.openxmlformats.org/officeDocument/2006/relationships/image" Target="../media/image5.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1.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pic>
        <p:nvPicPr>
          <p:cNvPr id="1026" name="Picture 2" descr="Jupiter's Colourful Palette | ESA/Hubble">
            <a:extLst>
              <a:ext uri="{FF2B5EF4-FFF2-40B4-BE49-F238E27FC236}">
                <a16:creationId xmlns:a16="http://schemas.microsoft.com/office/drawing/2014/main" id="{B59A47BF-CA5D-D4BB-B0EC-56E3D0C25CB3}"/>
              </a:ext>
            </a:extLst>
          </p:cNvPr>
          <p:cNvPicPr>
            <a:picLocks noChangeAspect="1" noChangeArrowheads="1"/>
          </p:cNvPicPr>
          <p:nvPr/>
        </p:nvPicPr>
        <p:blipFill>
          <a:blip r:embed="rId2">
            <a:alphaModFix amt="75000"/>
            <a:extLst>
              <a:ext uri="{BEBA8EAE-BF5A-486C-A8C5-ECC9F3942E4B}">
                <a14:imgProps xmlns:a14="http://schemas.microsoft.com/office/drawing/2010/main">
                  <a14:imgLayer r:embed="rId3">
                    <a14:imgEffect>
                      <a14:backgroundRemoval t="5750" b="97500" l="10000" r="90000">
                        <a14:foregroundMark x1="83125" y1="58583" x2="80885" y2="69500"/>
                        <a14:foregroundMark x1="80885" y1="69500" x2="72656" y2="92167"/>
                        <a14:foregroundMark x1="72656" y1="92167" x2="65104" y2="99417"/>
                        <a14:foregroundMark x1="65104" y1="99417" x2="28646" y2="98500"/>
                        <a14:foregroundMark x1="28646" y1="98500" x2="25313" y2="94167"/>
                        <a14:foregroundMark x1="25313" y1="94167" x2="16771" y2="61917"/>
                        <a14:foregroundMark x1="16771" y1="61917" x2="17865" y2="38667"/>
                        <a14:foregroundMark x1="17865" y1="38667" x2="25781" y2="15417"/>
                        <a14:foregroundMark x1="25781" y1="15417" x2="31510" y2="13500"/>
                        <a14:foregroundMark x1="31510" y1="13500" x2="32344" y2="10583"/>
                        <a14:foregroundMark x1="32344" y1="10583" x2="32344" y2="10583"/>
                        <a14:foregroundMark x1="66823" y1="97333" x2="63646" y2="99417"/>
                        <a14:foregroundMark x1="63646" y1="99417" x2="39219" y2="98167"/>
                        <a14:foregroundMark x1="39219" y1="98167" x2="45729" y2="89583"/>
                        <a14:foregroundMark x1="45729" y1="89583" x2="63177" y2="86750"/>
                        <a14:foregroundMark x1="63177" y1="86750" x2="65417" y2="92500"/>
                        <a14:foregroundMark x1="65417" y1="92500" x2="66042" y2="97500"/>
                        <a14:foregroundMark x1="28490" y1="9917" x2="33385" y2="2417"/>
                        <a14:foregroundMark x1="33385" y1="2417" x2="48438" y2="583"/>
                        <a14:foregroundMark x1="48438" y1="583" x2="70729" y2="3167"/>
                        <a14:foregroundMark x1="70729" y1="3167" x2="72813" y2="5750"/>
                        <a14:foregroundMark x1="72813" y1="5750" x2="74323" y2="10250"/>
                        <a14:foregroundMark x1="74323" y1="10250" x2="73854" y2="15583"/>
                        <a14:foregroundMark x1="73854" y1="15583" x2="60885" y2="20583"/>
                        <a14:foregroundMark x1="60885" y1="20583" x2="31563" y2="14417"/>
                        <a14:foregroundMark x1="31563" y1="14417" x2="28490" y2="10417"/>
                        <a14:foregroundMark x1="28490" y1="10417" x2="28385" y2="10083"/>
                      </a14:backgroundRemoval>
                    </a14:imgEffect>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6848461" y="-19878885"/>
            <a:ext cx="117588122" cy="75404870"/>
          </a:xfrm>
          <a:prstGeom prst="rect">
            <a:avLst/>
          </a:prstGeom>
          <a:noFill/>
          <a:extLst>
            <a:ext uri="{909E8E84-426E-40DD-AFC4-6F175D3DCCD1}">
              <a14:hiddenFill xmlns:a14="http://schemas.microsoft.com/office/drawing/2010/main">
                <a:solidFill>
                  <a:srgbClr val="FFFFFF"/>
                </a:solidFill>
              </a14:hiddenFill>
            </a:ext>
          </a:extLst>
        </p:spPr>
      </p:pic>
      <p:sp>
        <p:nvSpPr>
          <p:cNvPr id="1038" name="Rectangle 1037">
            <a:extLst>
              <a:ext uri="{FF2B5EF4-FFF2-40B4-BE49-F238E27FC236}">
                <a16:creationId xmlns:a16="http://schemas.microsoft.com/office/drawing/2014/main" id="{40C95A67-D157-1910-11FA-1778AF3C471E}"/>
              </a:ext>
            </a:extLst>
          </p:cNvPr>
          <p:cNvSpPr/>
          <p:nvPr/>
        </p:nvSpPr>
        <p:spPr>
          <a:xfrm>
            <a:off x="36515710" y="26596788"/>
            <a:ext cx="6459430" cy="2887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74B94D9-F2A6-CC74-613E-692423E82434}"/>
              </a:ext>
            </a:extLst>
          </p:cNvPr>
          <p:cNvSpPr/>
          <p:nvPr/>
        </p:nvSpPr>
        <p:spPr>
          <a:xfrm>
            <a:off x="24608375" y="26585471"/>
            <a:ext cx="10972800" cy="54271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BEA2A3C-94D4-964F-810B-B0EDEC6E6298}"/>
              </a:ext>
            </a:extLst>
          </p:cNvPr>
          <p:cNvSpPr/>
          <p:nvPr/>
        </p:nvSpPr>
        <p:spPr>
          <a:xfrm>
            <a:off x="12244299" y="26585471"/>
            <a:ext cx="10972800" cy="54271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E3C8CA2D-D331-24B5-ACAD-5357C9BA6DDD}"/>
              </a:ext>
            </a:extLst>
          </p:cNvPr>
          <p:cNvSpPr/>
          <p:nvPr/>
        </p:nvSpPr>
        <p:spPr>
          <a:xfrm>
            <a:off x="12237711" y="7224798"/>
            <a:ext cx="30737429" cy="176540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79605A5-C6F6-94D8-025E-F396C8BDED80}"/>
              </a:ext>
            </a:extLst>
          </p:cNvPr>
          <p:cNvSpPr/>
          <p:nvPr/>
        </p:nvSpPr>
        <p:spPr>
          <a:xfrm>
            <a:off x="936196" y="17760462"/>
            <a:ext cx="10386638" cy="14295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1FF6A23-DE70-7D76-F371-A57D31D83E9E}"/>
              </a:ext>
            </a:extLst>
          </p:cNvPr>
          <p:cNvSpPr/>
          <p:nvPr/>
        </p:nvSpPr>
        <p:spPr>
          <a:xfrm>
            <a:off x="936195" y="7228685"/>
            <a:ext cx="10386638" cy="8741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8767F80-0915-D240-3A78-18257EB14853}"/>
              </a:ext>
            </a:extLst>
          </p:cNvPr>
          <p:cNvSpPr/>
          <p:nvPr/>
        </p:nvSpPr>
        <p:spPr>
          <a:xfrm>
            <a:off x="937854" y="914400"/>
            <a:ext cx="23774400" cy="4560418"/>
          </a:xfrm>
          <a:prstGeom prst="rect">
            <a:avLst/>
          </a:prstGeom>
          <a:solidFill>
            <a:srgbClr val="162E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275"/>
          </a:p>
        </p:txBody>
      </p:sp>
      <p:sp>
        <p:nvSpPr>
          <p:cNvPr id="12" name="TextBox 11">
            <a:extLst>
              <a:ext uri="{FF2B5EF4-FFF2-40B4-BE49-F238E27FC236}">
                <a16:creationId xmlns:a16="http://schemas.microsoft.com/office/drawing/2014/main" id="{D7082E64-FDCE-6F68-D27E-74FE344A15E0}"/>
              </a:ext>
            </a:extLst>
          </p:cNvPr>
          <p:cNvSpPr txBox="1"/>
          <p:nvPr/>
        </p:nvSpPr>
        <p:spPr>
          <a:xfrm>
            <a:off x="961308" y="900747"/>
            <a:ext cx="24536384" cy="2462213"/>
          </a:xfrm>
          <a:prstGeom prst="rect">
            <a:avLst/>
          </a:prstGeom>
          <a:noFill/>
        </p:spPr>
        <p:txBody>
          <a:bodyPr wrap="square" rtlCol="0">
            <a:spAutoFit/>
          </a:bodyPr>
          <a:lstStyle/>
          <a:p>
            <a:r>
              <a:rPr lang="en-US" sz="7700" b="1" dirty="0">
                <a:solidFill>
                  <a:schemeClr val="bg1"/>
                </a:solidFill>
                <a:latin typeface="Arial" panose="020B0604020202020204" pitchFamily="34" charset="0"/>
                <a:cs typeface="Arial" panose="020B0604020202020204" pitchFamily="34" charset="0"/>
              </a:rPr>
              <a:t>A Survey of Jovian Long Dispersion Lightning Whistlers Observed by Juno Waves</a:t>
            </a:r>
          </a:p>
        </p:txBody>
      </p:sp>
      <p:sp>
        <p:nvSpPr>
          <p:cNvPr id="13" name="TextBox 12">
            <a:extLst>
              <a:ext uri="{FF2B5EF4-FFF2-40B4-BE49-F238E27FC236}">
                <a16:creationId xmlns:a16="http://schemas.microsoft.com/office/drawing/2014/main" id="{B407049C-E950-E407-5938-ED887D9BC96A}"/>
              </a:ext>
            </a:extLst>
          </p:cNvPr>
          <p:cNvSpPr txBox="1"/>
          <p:nvPr/>
        </p:nvSpPr>
        <p:spPr>
          <a:xfrm>
            <a:off x="961309" y="3239591"/>
            <a:ext cx="22711917" cy="1446550"/>
          </a:xfrm>
          <a:prstGeom prst="rect">
            <a:avLst/>
          </a:prstGeom>
          <a:noFill/>
        </p:spPr>
        <p:txBody>
          <a:bodyPr wrap="square" rtlCol="0">
            <a:spAutoFit/>
          </a:bodyPr>
          <a:lstStyle/>
          <a:p>
            <a:pPr>
              <a:tabLst>
                <a:tab pos="3825875" algn="l"/>
              </a:tabLst>
            </a:pPr>
            <a:r>
              <a:rPr lang="en-US" sz="3500" b="1" dirty="0">
                <a:solidFill>
                  <a:schemeClr val="bg1"/>
                </a:solidFill>
                <a:latin typeface="Arial" panose="020B0604020202020204" pitchFamily="34" charset="0"/>
                <a:cs typeface="Arial" panose="020B0604020202020204" pitchFamily="34" charset="0"/>
              </a:rPr>
              <a:t>Andrew Milne</a:t>
            </a:r>
            <a:r>
              <a:rPr lang="en-US" sz="3500" b="1" baseline="30000" dirty="0">
                <a:solidFill>
                  <a:schemeClr val="bg1"/>
                </a:solidFill>
                <a:latin typeface="Arial" panose="020B0604020202020204" pitchFamily="34" charset="0"/>
                <a:cs typeface="Arial" panose="020B0604020202020204" pitchFamily="34" charset="0"/>
              </a:rPr>
              <a:t>1</a:t>
            </a:r>
            <a:r>
              <a:rPr lang="en-US" sz="3500" b="1" dirty="0">
                <a:solidFill>
                  <a:schemeClr val="bg1"/>
                </a:solidFill>
                <a:latin typeface="Arial" panose="020B0604020202020204" pitchFamily="34" charset="0"/>
                <a:cs typeface="Arial" panose="020B0604020202020204" pitchFamily="34" charset="0"/>
              </a:rPr>
              <a:t>, George Hospodarsky</a:t>
            </a:r>
            <a:r>
              <a:rPr lang="en-US" sz="3500" b="1" baseline="30000" dirty="0">
                <a:solidFill>
                  <a:schemeClr val="bg1"/>
                </a:solidFill>
                <a:latin typeface="Arial" panose="020B0604020202020204" pitchFamily="34" charset="0"/>
                <a:cs typeface="Arial" panose="020B0604020202020204" pitchFamily="34" charset="0"/>
              </a:rPr>
              <a:t>1</a:t>
            </a:r>
            <a:r>
              <a:rPr kumimoji="0" lang="en-US" sz="35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Jeremy Faden</a:t>
            </a:r>
            <a:r>
              <a:rPr kumimoji="0" lang="en-US" sz="3600" b="1" i="0" u="none" strike="noStrike" kern="1200" cap="none" spc="0" normalizeH="0" baseline="30000" noProof="0" dirty="0">
                <a:ln>
                  <a:noFill/>
                </a:ln>
                <a:solidFill>
                  <a:prstClr val="white"/>
                </a:solidFill>
                <a:effectLst/>
                <a:uLnTx/>
                <a:uFillTx/>
                <a:latin typeface="Arial" panose="020B0604020202020204" pitchFamily="34" charset="0"/>
                <a:ea typeface="+mn-ea"/>
                <a:cs typeface="Arial" panose="020B0604020202020204" pitchFamily="34" charset="0"/>
              </a:rPr>
              <a:t>1</a:t>
            </a:r>
            <a:br>
              <a:rPr lang="en-US" sz="1700" b="1" dirty="0">
                <a:solidFill>
                  <a:schemeClr val="bg1"/>
                </a:solidFill>
                <a:latin typeface="Arial" panose="020B0604020202020204" pitchFamily="34" charset="0"/>
                <a:cs typeface="Arial" panose="020B0604020202020204" pitchFamily="34" charset="0"/>
              </a:rPr>
            </a:br>
            <a:endParaRPr lang="en-US" sz="1700" b="1" dirty="0">
              <a:solidFill>
                <a:schemeClr val="bg1"/>
              </a:solidFill>
              <a:latin typeface="Arial" panose="020B0604020202020204" pitchFamily="34" charset="0"/>
              <a:cs typeface="Arial" panose="020B0604020202020204" pitchFamily="34" charset="0"/>
            </a:endParaRPr>
          </a:p>
          <a:p>
            <a:r>
              <a:rPr lang="en-US" sz="3500" baseline="30000" dirty="0">
                <a:solidFill>
                  <a:schemeClr val="bg1"/>
                </a:solidFill>
                <a:latin typeface="Arial" panose="020B0604020202020204" pitchFamily="34" charset="0"/>
                <a:cs typeface="Arial" panose="020B0604020202020204" pitchFamily="34" charset="0"/>
              </a:rPr>
              <a:t>1</a:t>
            </a:r>
            <a:r>
              <a:rPr lang="en-US" sz="3500" dirty="0">
                <a:solidFill>
                  <a:schemeClr val="bg1"/>
                </a:solidFill>
                <a:latin typeface="Arial" panose="020B0604020202020204" pitchFamily="34" charset="0"/>
                <a:cs typeface="Arial" panose="020B0604020202020204" pitchFamily="34" charset="0"/>
              </a:rPr>
              <a:t>Department of Physics and Astronomy, College of Liberal Arts and Sciences, The University of Iowa, Iowa City IA</a:t>
            </a:r>
          </a:p>
        </p:txBody>
      </p:sp>
      <p:sp>
        <p:nvSpPr>
          <p:cNvPr id="18" name="TextBox 17">
            <a:extLst>
              <a:ext uri="{FF2B5EF4-FFF2-40B4-BE49-F238E27FC236}">
                <a16:creationId xmlns:a16="http://schemas.microsoft.com/office/drawing/2014/main" id="{4F5168BD-87E8-BF10-FDCF-7E37C54DFF5D}"/>
              </a:ext>
            </a:extLst>
          </p:cNvPr>
          <p:cNvSpPr txBox="1"/>
          <p:nvPr/>
        </p:nvSpPr>
        <p:spPr>
          <a:xfrm>
            <a:off x="24700515" y="26629130"/>
            <a:ext cx="10880659" cy="5509200"/>
          </a:xfrm>
          <a:prstGeom prst="rect">
            <a:avLst/>
          </a:prstGeom>
          <a:noFill/>
        </p:spPr>
        <p:txBody>
          <a:bodyPr wrap="square" rtlCol="0">
            <a:spAutoFit/>
          </a:bodyPr>
          <a:lstStyle/>
          <a:p>
            <a:pPr marL="457200" indent="-457200">
              <a:buFont typeface="Arial" panose="020B0604020202020204" pitchFamily="34" charset="0"/>
              <a:buChar char="•"/>
            </a:pPr>
            <a:r>
              <a:rPr lang="en-US" sz="3200" dirty="0"/>
              <a:t>While detections of long dispersion whistlers happen within </a:t>
            </a:r>
            <a:r>
              <a:rPr lang="en-US" sz="3200" dirty="0" err="1"/>
              <a:t>mshell</a:t>
            </a:r>
            <a:r>
              <a:rPr lang="en-US" sz="3200" dirty="0"/>
              <a:t> 5-9, a statistical study is needed to identify how likely it is Juno sees whistlers at a given </a:t>
            </a:r>
            <a:r>
              <a:rPr lang="en-US" sz="3200" dirty="0" err="1"/>
              <a:t>mshell</a:t>
            </a:r>
            <a:r>
              <a:rPr lang="en-US" sz="3200" dirty="0"/>
              <a:t> per orbit. This statistical study can also be carried out for other parameters, such as the relative location of Io to Juno, or seasonal effects.</a:t>
            </a:r>
          </a:p>
          <a:p>
            <a:pPr marL="457200" indent="-457200">
              <a:buFont typeface="Arial" panose="020B0604020202020204" pitchFamily="34" charset="0"/>
              <a:buChar char="•"/>
            </a:pPr>
            <a:r>
              <a:rPr lang="en-US" sz="3200" dirty="0"/>
              <a:t>Figure 5 shows a deviation in the northern whistlers, which may be consistent with the Great Blue Spot, a magnetic anomaly of Jupiter. </a:t>
            </a:r>
          </a:p>
          <a:p>
            <a:pPr marL="457200" indent="-457200">
              <a:buFont typeface="Arial" panose="020B0604020202020204" pitchFamily="34" charset="0"/>
              <a:buChar char="•"/>
            </a:pPr>
            <a:r>
              <a:rPr lang="en-US" sz="3200" dirty="0"/>
              <a:t>A full paper is being written covering this work, expected 2025 publication date. </a:t>
            </a:r>
          </a:p>
        </p:txBody>
      </p:sp>
      <p:sp>
        <p:nvSpPr>
          <p:cNvPr id="19" name="TextBox 18">
            <a:extLst>
              <a:ext uri="{FF2B5EF4-FFF2-40B4-BE49-F238E27FC236}">
                <a16:creationId xmlns:a16="http://schemas.microsoft.com/office/drawing/2014/main" id="{C9EBE65D-1D38-94D4-EF58-138EC7CB5C01}"/>
              </a:ext>
            </a:extLst>
          </p:cNvPr>
          <p:cNvSpPr txBox="1"/>
          <p:nvPr/>
        </p:nvSpPr>
        <p:spPr>
          <a:xfrm>
            <a:off x="12307634" y="26537526"/>
            <a:ext cx="10909465" cy="5632311"/>
          </a:xfrm>
          <a:prstGeom prst="rect">
            <a:avLst/>
          </a:prstGeom>
          <a:noFill/>
        </p:spPr>
        <p:txBody>
          <a:bodyPr wrap="square" rtlCol="0">
            <a:spAutoFit/>
          </a:bodyPr>
          <a:lstStyle/>
          <a:p>
            <a:pPr marL="457200" indent="-457200">
              <a:buFont typeface="Arial" panose="020B0604020202020204" pitchFamily="34" charset="0"/>
              <a:buChar char="•"/>
            </a:pPr>
            <a:r>
              <a:rPr lang="en-US" sz="3000" dirty="0"/>
              <a:t>Analyzing roughly 1000 whistlers, we identify 345 whistlers with a dispersion constant greater than 10, consisting of medium (D&lt;100) and long (D&gt;100) dispersion whistlers across many orbits. We detect whistlers both near the Io Torus and near Jupiter at </a:t>
            </a:r>
            <a:r>
              <a:rPr lang="en-US" sz="3000" dirty="0" err="1"/>
              <a:t>mshells</a:t>
            </a:r>
            <a:r>
              <a:rPr lang="en-US" sz="3000" dirty="0"/>
              <a:t> that connect through the Torus. See Figure 4 and 7</a:t>
            </a:r>
          </a:p>
          <a:p>
            <a:pPr marL="457200" indent="-457200">
              <a:buFont typeface="Arial" panose="020B0604020202020204" pitchFamily="34" charset="0"/>
              <a:buChar char="•"/>
            </a:pPr>
            <a:r>
              <a:rPr lang="en-US" sz="3000" dirty="0"/>
              <a:t>We see large variation in dispersion constant across small time scales, potentially showing small scale density structure. See Figure 6</a:t>
            </a:r>
          </a:p>
          <a:p>
            <a:pPr marL="457200" indent="-457200">
              <a:buFont typeface="Arial" panose="020B0604020202020204" pitchFamily="34" charset="0"/>
              <a:buChar char="•"/>
            </a:pPr>
            <a:r>
              <a:rPr lang="en-US" sz="3000" dirty="0"/>
              <a:t>We identify 2 examples of medium dispersion whistlers, identified by travel direction and relatively lower dispersion constant. See Figure 1 and 2</a:t>
            </a:r>
          </a:p>
        </p:txBody>
      </p:sp>
      <p:sp>
        <p:nvSpPr>
          <p:cNvPr id="20" name="TextBox 19">
            <a:extLst>
              <a:ext uri="{FF2B5EF4-FFF2-40B4-BE49-F238E27FC236}">
                <a16:creationId xmlns:a16="http://schemas.microsoft.com/office/drawing/2014/main" id="{5B7E6651-AB3D-A194-7870-642C74B67CB5}"/>
              </a:ext>
            </a:extLst>
          </p:cNvPr>
          <p:cNvSpPr txBox="1"/>
          <p:nvPr/>
        </p:nvSpPr>
        <p:spPr>
          <a:xfrm>
            <a:off x="36495574" y="26527804"/>
            <a:ext cx="6459430" cy="2893100"/>
          </a:xfrm>
          <a:prstGeom prst="rect">
            <a:avLst/>
          </a:prstGeom>
          <a:noFill/>
        </p:spPr>
        <p:txBody>
          <a:bodyPr wrap="square" rtlCol="0">
            <a:spAutoFit/>
          </a:bodyPr>
          <a:lstStyle/>
          <a:p>
            <a:r>
              <a:rPr lang="en-US" sz="2600" dirty="0"/>
              <a:t>The research at the University of Iowa is supported by NASA through Contract 699041X734 with the Southwest Research Institute. A. M.  acknowledges the use of the Space Physics Data Repository at the University of Iowa supported by the Roy J. Carver Charitable Trust. </a:t>
            </a:r>
          </a:p>
        </p:txBody>
      </p:sp>
      <p:sp>
        <p:nvSpPr>
          <p:cNvPr id="21" name="Rectangle 20">
            <a:extLst>
              <a:ext uri="{FF2B5EF4-FFF2-40B4-BE49-F238E27FC236}">
                <a16:creationId xmlns:a16="http://schemas.microsoft.com/office/drawing/2014/main" id="{350B544C-CD5F-B781-ECD5-859C6C0BD3BB}"/>
              </a:ext>
            </a:extLst>
          </p:cNvPr>
          <p:cNvSpPr/>
          <p:nvPr/>
        </p:nvSpPr>
        <p:spPr>
          <a:xfrm>
            <a:off x="937854" y="6358875"/>
            <a:ext cx="10386638"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Introduction</a:t>
            </a:r>
            <a:endParaRPr lang="en-US" sz="44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F857171-1BA8-1056-9C6D-9251E05875F3}"/>
              </a:ext>
            </a:extLst>
          </p:cNvPr>
          <p:cNvSpPr/>
          <p:nvPr/>
        </p:nvSpPr>
        <p:spPr>
          <a:xfrm>
            <a:off x="936196" y="16884867"/>
            <a:ext cx="10386638"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Methods</a:t>
            </a:r>
            <a:endParaRPr lang="en-US" sz="4400" dirty="0">
              <a:latin typeface="Arial" panose="020B0604020202020204" pitchFamily="34" charset="0"/>
              <a:cs typeface="Arial" panose="020B0604020202020204" pitchFamily="34" charset="0"/>
            </a:endParaRPr>
          </a:p>
        </p:txBody>
      </p:sp>
      <p:pic>
        <p:nvPicPr>
          <p:cNvPr id="37" name="Picture 36" descr="A close-up of a planet&#10;&#10;Description automatically generated">
            <a:extLst>
              <a:ext uri="{FF2B5EF4-FFF2-40B4-BE49-F238E27FC236}">
                <a16:creationId xmlns:a16="http://schemas.microsoft.com/office/drawing/2014/main" id="{579473CF-D6DA-C74B-DA18-E981AF6F2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56774" y="12273540"/>
            <a:ext cx="5180952" cy="3111111"/>
          </a:xfrm>
          <a:prstGeom prst="rect">
            <a:avLst/>
          </a:prstGeom>
        </p:spPr>
      </p:pic>
      <p:sp>
        <p:nvSpPr>
          <p:cNvPr id="43" name="TextBox 42">
            <a:extLst>
              <a:ext uri="{FF2B5EF4-FFF2-40B4-BE49-F238E27FC236}">
                <a16:creationId xmlns:a16="http://schemas.microsoft.com/office/drawing/2014/main" id="{25F16169-1D3D-010C-A90A-9AC2C6A7C82A}"/>
              </a:ext>
            </a:extLst>
          </p:cNvPr>
          <p:cNvSpPr txBox="1"/>
          <p:nvPr/>
        </p:nvSpPr>
        <p:spPr>
          <a:xfrm>
            <a:off x="943383" y="7248808"/>
            <a:ext cx="10372261" cy="8306889"/>
          </a:xfrm>
          <a:prstGeom prst="rect">
            <a:avLst/>
          </a:prstGeom>
          <a:noFill/>
        </p:spPr>
        <p:txBody>
          <a:bodyPr wrap="square" rtlCol="0">
            <a:spAutoFit/>
          </a:bodyPr>
          <a:lstStyle/>
          <a:p>
            <a:r>
              <a:rPr lang="en-US" sz="3140" dirty="0"/>
              <a:t>NASA’s Juno arrived in orbit around Jupiter in July 2016. Juno carries the Waves instrument, an experiment designed to measure plasma and radio waves in the environment around Jupiter. Of note is the strong magnetic field around Jupiter and the plasma torus formed by volcanic ions from Io, creating a unique environment for waves to propagate.</a:t>
            </a:r>
          </a:p>
          <a:p>
            <a:endParaRPr lang="en-US" sz="3140" dirty="0"/>
          </a:p>
          <a:p>
            <a:r>
              <a:rPr lang="en-US" sz="3140" dirty="0"/>
              <a:t>Lightning flashes on Jupiter emit a broad spectrum of light, including low frequency radio waves. These lightning radio waves can escape into space and propagate along the planets magnetic field lines with the high frequencies traveling faster than the low frequencies, thereby dispersing the wave into a whistling tone that decreases in frequency with increasing time. The detection and characteristics of these ‘whistlers’ can be used to estimate the location of the source lightning on Jupiter and if they have traveled through the dense plasma associated with the Io torus</a:t>
            </a:r>
          </a:p>
        </p:txBody>
      </p:sp>
      <p:sp>
        <p:nvSpPr>
          <p:cNvPr id="45" name="Rectangle 44">
            <a:extLst>
              <a:ext uri="{FF2B5EF4-FFF2-40B4-BE49-F238E27FC236}">
                <a16:creationId xmlns:a16="http://schemas.microsoft.com/office/drawing/2014/main" id="{92CC299C-F54F-150E-6FF1-58D66A7335A2}"/>
              </a:ext>
            </a:extLst>
          </p:cNvPr>
          <p:cNvSpPr/>
          <p:nvPr/>
        </p:nvSpPr>
        <p:spPr>
          <a:xfrm>
            <a:off x="12237711" y="6332929"/>
            <a:ext cx="30737430" cy="895756"/>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Figures</a:t>
            </a:r>
            <a:endParaRPr lang="en-US" sz="4400" dirty="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65CBCC68-353F-4047-5ECC-04CD85AD078A}"/>
              </a:ext>
            </a:extLst>
          </p:cNvPr>
          <p:cNvSpPr txBox="1"/>
          <p:nvPr/>
        </p:nvSpPr>
        <p:spPr>
          <a:xfrm>
            <a:off x="32573288" y="12445117"/>
            <a:ext cx="4363518" cy="2308324"/>
          </a:xfrm>
          <a:prstGeom prst="rect">
            <a:avLst/>
          </a:prstGeom>
          <a:noFill/>
        </p:spPr>
        <p:txBody>
          <a:bodyPr wrap="square" rtlCol="0">
            <a:spAutoFit/>
          </a:bodyPr>
          <a:lstStyle/>
          <a:p>
            <a:r>
              <a:rPr lang="en-US" sz="2400" dirty="0"/>
              <a:t>Figures 3, 4, 5: Plots showing whistler dispersion vs Juno’s distance from Jupiter, magnetic field line, and a plot showing where the whistlers originated on Jupiter.</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C93CC69-A2A0-A402-F874-C612C86A2D3D}"/>
                  </a:ext>
                </a:extLst>
              </p:cNvPr>
              <p:cNvSpPr txBox="1"/>
              <p:nvPr/>
            </p:nvSpPr>
            <p:spPr>
              <a:xfrm>
                <a:off x="1018434" y="17823550"/>
                <a:ext cx="9935732" cy="14799116"/>
              </a:xfrm>
              <a:prstGeom prst="rect">
                <a:avLst/>
              </a:prstGeom>
              <a:noFill/>
            </p:spPr>
            <p:txBody>
              <a:bodyPr wrap="square" rtlCol="0">
                <a:spAutoFit/>
              </a:bodyPr>
              <a:lstStyle/>
              <a:p>
                <a:pPr>
                  <a:defRPr/>
                </a:pPr>
                <a:r>
                  <a:rPr lang="en-US" altLang="en-US" sz="3200" dirty="0"/>
                  <a:t>Lightning whistlers observed in planetary magnetospheres exhibit a distinct frequency dispersion (decreasing frequency with increasing time) when plotted on a frequency-time spectrogram (see Figures 1, 2, and 6 for examples of this characteristic dispersion for lightning whistlers detected at Jupiter by the Juno Waves instrument). The dispersion can be described by</a:t>
                </a:r>
                <a:r>
                  <a:rPr lang="en-US" altLang="en-US" sz="3200" dirty="0">
                    <a:ea typeface="Cambria Math" panose="02040503050406030204" pitchFamily="18" charset="0"/>
                  </a:rPr>
                  <a:t> </a:t>
                </a:r>
                <a:r>
                  <a:rPr lang="en-US" sz="3200" dirty="0">
                    <a:ea typeface="Cambria Math" panose="02040503050406030204" pitchFamily="18" charset="0"/>
                  </a:rPr>
                  <a:t> </a:t>
                </a:r>
                <a14:m>
                  <m:oMath xmlns:m="http://schemas.openxmlformats.org/officeDocument/2006/math">
                    <m:r>
                      <a:rPr lang="en-US" sz="3200" b="1" i="1">
                        <a:latin typeface="Cambria Math" panose="02040503050406030204" pitchFamily="18" charset="0"/>
                        <a:ea typeface="Cambria Math" panose="02040503050406030204" pitchFamily="18" charset="0"/>
                      </a:rPr>
                      <m:t>𝒕</m:t>
                    </m:r>
                    <m:r>
                      <a:rPr lang="en-US" sz="3200" b="1" i="1">
                        <a:latin typeface="Cambria Math" panose="02040503050406030204" pitchFamily="18" charset="0"/>
                        <a:ea typeface="Cambria Math" panose="02040503050406030204" pitchFamily="18" charset="0"/>
                      </a:rPr>
                      <m:t>= </m:t>
                    </m:r>
                    <m:f>
                      <m:fPr>
                        <m:ctrlPr>
                          <a:rPr lang="en-US" sz="3200" b="1" i="1">
                            <a:latin typeface="Cambria Math" panose="02040503050406030204" pitchFamily="18" charset="0"/>
                            <a:ea typeface="Cambria Math" panose="02040503050406030204" pitchFamily="18" charset="0"/>
                          </a:rPr>
                        </m:ctrlPr>
                      </m:fPr>
                      <m:num>
                        <m:r>
                          <a:rPr lang="en-US" sz="3200" b="1" i="1">
                            <a:latin typeface="Cambria Math" panose="02040503050406030204" pitchFamily="18" charset="0"/>
                            <a:ea typeface="Cambria Math" panose="02040503050406030204" pitchFamily="18" charset="0"/>
                          </a:rPr>
                          <m:t>𝑫</m:t>
                        </m:r>
                      </m:num>
                      <m:den>
                        <m:rad>
                          <m:radPr>
                            <m:degHide m:val="on"/>
                            <m:ctrlPr>
                              <a:rPr lang="en-US" sz="3200" b="1" i="1">
                                <a:latin typeface="Cambria Math" panose="02040503050406030204" pitchFamily="18" charset="0"/>
                                <a:ea typeface="Cambria Math" panose="02040503050406030204" pitchFamily="18" charset="0"/>
                              </a:rPr>
                            </m:ctrlPr>
                          </m:radPr>
                          <m:deg/>
                          <m:e>
                            <m:r>
                              <a:rPr lang="en-US" sz="3200" b="1" i="1">
                                <a:latin typeface="Cambria Math" panose="02040503050406030204" pitchFamily="18" charset="0"/>
                                <a:ea typeface="Cambria Math" panose="02040503050406030204" pitchFamily="18" charset="0"/>
                              </a:rPr>
                              <m:t>𝒇</m:t>
                            </m:r>
                          </m:e>
                        </m:rad>
                      </m:den>
                    </m:f>
                    <m:r>
                      <m:rPr>
                        <m:nor/>
                      </m:rPr>
                      <a:rPr lang="en-US" sz="3200" b="1" dirty="0">
                        <a:latin typeface="Cambria Math" panose="02040503050406030204" pitchFamily="18" charset="0"/>
                        <a:ea typeface="Cambria Math" panose="02040503050406030204" pitchFamily="18" charset="0"/>
                      </a:rPr>
                      <m:t> +</m:t>
                    </m:r>
                    <m:r>
                      <m:rPr>
                        <m:nor/>
                      </m:rPr>
                      <a:rPr lang="en-US" sz="3200" b="1" i="1" dirty="0">
                        <a:latin typeface="Cambria Math" panose="02040503050406030204" pitchFamily="18" charset="0"/>
                        <a:ea typeface="Cambria Math" panose="02040503050406030204" pitchFamily="18" charset="0"/>
                      </a:rPr>
                      <m:t> </m:t>
                    </m:r>
                    <m:r>
                      <m:rPr>
                        <m:nor/>
                      </m:rPr>
                      <a:rPr lang="en-US" sz="3200" b="1" i="1" dirty="0">
                        <a:latin typeface="Cambria Math" panose="02040503050406030204" pitchFamily="18" charset="0"/>
                        <a:ea typeface="Cambria Math" panose="02040503050406030204" pitchFamily="18" charset="0"/>
                      </a:rPr>
                      <m:t>t</m:t>
                    </m:r>
                    <m:r>
                      <m:rPr>
                        <m:nor/>
                      </m:rPr>
                      <a:rPr lang="en-US" sz="3200" b="1" baseline="-25000" dirty="0">
                        <a:latin typeface="Cambria Math" panose="02040503050406030204" pitchFamily="18" charset="0"/>
                        <a:ea typeface="Cambria Math" panose="02040503050406030204" pitchFamily="18" charset="0"/>
                      </a:rPr>
                      <m:t>0</m:t>
                    </m:r>
                    <m:r>
                      <m:rPr>
                        <m:nor/>
                      </m:rPr>
                      <a:rPr lang="en-US" sz="3200" b="1" i="0" baseline="-25000" dirty="0" smtClean="0">
                        <a:latin typeface="Cambria Math" panose="02040503050406030204" pitchFamily="18" charset="0"/>
                        <a:ea typeface="Cambria Math" panose="02040503050406030204" pitchFamily="18" charset="0"/>
                      </a:rPr>
                      <m:t>  </m:t>
                    </m:r>
                  </m:oMath>
                </a14:m>
                <a:r>
                  <a:rPr lang="en-US" altLang="en-US" sz="3200" dirty="0"/>
                  <a:t>where</a:t>
                </a:r>
                <a:r>
                  <a:rPr lang="en-US" altLang="en-US" sz="3200" dirty="0">
                    <a:latin typeface="+mj-lt"/>
                  </a:rPr>
                  <a:t> </a:t>
                </a:r>
                <a:r>
                  <a:rPr lang="en-US" altLang="en-US" sz="3200" b="1" dirty="0">
                    <a:latin typeface="+mj-lt"/>
                  </a:rPr>
                  <a:t>t</a:t>
                </a:r>
                <a:r>
                  <a:rPr lang="en-US" altLang="en-US" sz="3200" dirty="0">
                    <a:latin typeface="+mj-lt"/>
                  </a:rPr>
                  <a:t> </a:t>
                </a:r>
                <a:r>
                  <a:rPr lang="en-US" altLang="en-US" sz="3200" dirty="0"/>
                  <a:t>is the arrival time of the emission at frequency</a:t>
                </a:r>
                <a:r>
                  <a:rPr lang="en-US" altLang="en-US" sz="3200" dirty="0">
                    <a:latin typeface="+mj-lt"/>
                  </a:rPr>
                  <a:t> </a:t>
                </a:r>
                <a:r>
                  <a:rPr lang="en-US" altLang="en-US" sz="3200" b="1" dirty="0">
                    <a:latin typeface="+mj-lt"/>
                  </a:rPr>
                  <a:t>f</a:t>
                </a:r>
                <a:r>
                  <a:rPr lang="en-US" altLang="en-US" sz="3200" dirty="0">
                    <a:latin typeface="+mj-lt"/>
                  </a:rPr>
                  <a:t>, </a:t>
                </a:r>
                <a:r>
                  <a:rPr lang="en-US" altLang="en-US" sz="3200" b="1" dirty="0">
                    <a:latin typeface="+mj-lt"/>
                  </a:rPr>
                  <a:t>t</a:t>
                </a:r>
                <a:r>
                  <a:rPr lang="en-US" altLang="en-US" sz="3200" b="1" baseline="-25000" dirty="0">
                    <a:latin typeface="+mj-lt"/>
                  </a:rPr>
                  <a:t>o</a:t>
                </a:r>
                <a:r>
                  <a:rPr lang="en-US" altLang="en-US" sz="3200" dirty="0">
                    <a:latin typeface="+mj-lt"/>
                  </a:rPr>
                  <a:t> </a:t>
                </a:r>
                <a:r>
                  <a:rPr lang="en-US" altLang="en-US" sz="3200" dirty="0"/>
                  <a:t>is the time of the source lightning initial flash, and</a:t>
                </a:r>
                <a:r>
                  <a:rPr lang="en-US" altLang="en-US" sz="3200" dirty="0">
                    <a:latin typeface="+mj-lt"/>
                  </a:rPr>
                  <a:t> </a:t>
                </a:r>
                <a:r>
                  <a:rPr lang="en-US" altLang="en-US" sz="3200" b="1" dirty="0">
                    <a:latin typeface="+mj-lt"/>
                  </a:rPr>
                  <a:t>D</a:t>
                </a:r>
                <a:r>
                  <a:rPr lang="en-US" altLang="en-US" sz="3200" dirty="0">
                    <a:latin typeface="+mj-lt"/>
                  </a:rPr>
                  <a:t> </a:t>
                </a:r>
                <a:r>
                  <a:rPr lang="en-US" altLang="en-US" sz="3200" dirty="0"/>
                  <a:t>is the dispersion constant which depends on the integrated plasma density along the propagation path of the whistler (larger value for </a:t>
                </a:r>
                <a:r>
                  <a:rPr lang="en-US" altLang="en-US" sz="3200" b="1" dirty="0">
                    <a:latin typeface="+mj-lt"/>
                  </a:rPr>
                  <a:t>D</a:t>
                </a:r>
                <a:r>
                  <a:rPr lang="en-US" altLang="en-US" sz="3200" dirty="0">
                    <a:latin typeface="+mj-lt"/>
                  </a:rPr>
                  <a:t> </a:t>
                </a:r>
                <a:r>
                  <a:rPr lang="en-US" altLang="en-US" sz="3200" dirty="0"/>
                  <a:t>corresponds to encountering a higher integrated density) [Eckersley, 1935]. </a:t>
                </a:r>
                <a:r>
                  <a:rPr lang="en-US" altLang="en-US" sz="3200" b="1" dirty="0">
                    <a:latin typeface="+mj-lt"/>
                  </a:rPr>
                  <a:t>D</a:t>
                </a:r>
                <a:r>
                  <a:rPr lang="en-US" altLang="en-US" sz="3200" dirty="0">
                    <a:latin typeface="+mj-lt"/>
                  </a:rPr>
                  <a:t> </a:t>
                </a:r>
                <a:r>
                  <a:rPr lang="en-US" altLang="en-US" sz="3200" dirty="0"/>
                  <a:t>can be solved by plotting </a:t>
                </a:r>
                <a14:m>
                  <m:oMath xmlns:m="http://schemas.openxmlformats.org/officeDocument/2006/math">
                    <m:f>
                      <m:fPr>
                        <m:type m:val="lin"/>
                        <m:ctrlPr>
                          <a:rPr lang="en-US" altLang="en-US" sz="3200" b="1" i="1" dirty="0">
                            <a:latin typeface="Cambria Math" panose="02040503050406030204" pitchFamily="18" charset="0"/>
                          </a:rPr>
                        </m:ctrlPr>
                      </m:fPr>
                      <m:num>
                        <m:r>
                          <a:rPr lang="en-US" altLang="en-US" sz="3200" b="1" i="1" dirty="0">
                            <a:latin typeface="Cambria Math" panose="02040503050406030204" pitchFamily="18" charset="0"/>
                          </a:rPr>
                          <m:t>𝟏</m:t>
                        </m:r>
                      </m:num>
                      <m:den>
                        <m:rad>
                          <m:radPr>
                            <m:degHide m:val="on"/>
                            <m:ctrlPr>
                              <a:rPr lang="en-US" altLang="en-US" sz="3200" b="1" i="1" dirty="0">
                                <a:latin typeface="Cambria Math" panose="02040503050406030204" pitchFamily="18" charset="0"/>
                              </a:rPr>
                            </m:ctrlPr>
                          </m:radPr>
                          <m:deg/>
                          <m:e>
                            <m:r>
                              <a:rPr lang="en-US" altLang="en-US" sz="3200" b="1" i="1" dirty="0">
                                <a:latin typeface="Cambria Math" panose="02040503050406030204" pitchFamily="18" charset="0"/>
                              </a:rPr>
                              <m:t>𝒇</m:t>
                            </m:r>
                          </m:e>
                        </m:rad>
                      </m:den>
                    </m:f>
                    <m:r>
                      <a:rPr lang="en-US" altLang="en-US" sz="3200" i="1" dirty="0">
                        <a:latin typeface="Cambria Math" panose="02040503050406030204" pitchFamily="18" charset="0"/>
                      </a:rPr>
                      <m:t> </m:t>
                    </m:r>
                  </m:oMath>
                </a14:m>
                <a:r>
                  <a:rPr lang="en-US" altLang="en-US" sz="3200" dirty="0">
                    <a:latin typeface="+mj-lt"/>
                  </a:rPr>
                  <a:t> </a:t>
                </a:r>
                <a:r>
                  <a:rPr lang="en-US" altLang="en-US" sz="3200" dirty="0"/>
                  <a:t>vs. the measured arrival time of the whistler at that frequency and fitting a straight line to the resulting points. The determination of</a:t>
                </a:r>
                <a:r>
                  <a:rPr lang="en-US" altLang="en-US" sz="3200" dirty="0">
                    <a:latin typeface="+mj-lt"/>
                  </a:rPr>
                  <a:t> </a:t>
                </a:r>
                <a:r>
                  <a:rPr lang="en-US" altLang="en-US" sz="3200" b="1" dirty="0">
                    <a:latin typeface="+mj-lt"/>
                  </a:rPr>
                  <a:t>D</a:t>
                </a:r>
                <a:r>
                  <a:rPr lang="en-US" altLang="en-US" sz="3200" dirty="0">
                    <a:latin typeface="+mj-lt"/>
                  </a:rPr>
                  <a:t> </a:t>
                </a:r>
                <a:r>
                  <a:rPr lang="en-US" altLang="en-US" sz="3200" dirty="0"/>
                  <a:t>can provide valuable information about the source of the lightning and the plasma environment along the propagation path.</a:t>
                </a:r>
                <a:endParaRPr lang="en-US" sz="3200" dirty="0">
                  <a:latin typeface="+mj-lt"/>
                </a:endParaRPr>
              </a:p>
              <a:p>
                <a:pPr>
                  <a:defRPr/>
                </a:pPr>
                <a:r>
                  <a:rPr lang="en-US" altLang="en-US" sz="3200" dirty="0"/>
                  <a:t>By performing a 256-point </a:t>
                </a:r>
                <a:r>
                  <a:rPr lang="en-US" altLang="en-US" sz="3200" dirty="0" err="1"/>
                  <a:t>fft</a:t>
                </a:r>
                <a:r>
                  <a:rPr lang="en-US" altLang="en-US" sz="3200" dirty="0"/>
                  <a:t> on the LFR-Lo waveform burst data, data can be shown in a spectra. See Figure 1 and 2 for examples. Together with Jeremy </a:t>
                </a:r>
                <a:r>
                  <a:rPr lang="en-US" altLang="en-US" sz="3200" dirty="0" err="1"/>
                  <a:t>Faden</a:t>
                </a:r>
                <a:r>
                  <a:rPr lang="en-US" altLang="en-US" sz="3200" dirty="0"/>
                  <a:t>, a simple tool was made to select points along a whistler’s curve, which would then be processed and the resulting dispersion constant saved along with time information. Combining this data with Juno orbital information, whistlers can be cross referenced with various parameters.</a:t>
                </a:r>
                <a:endParaRPr lang="en-US" sz="3200" dirty="0"/>
              </a:p>
            </p:txBody>
          </p:sp>
        </mc:Choice>
        <mc:Fallback xmlns="">
          <p:sp>
            <p:nvSpPr>
              <p:cNvPr id="49" name="TextBox 48">
                <a:extLst>
                  <a:ext uri="{FF2B5EF4-FFF2-40B4-BE49-F238E27FC236}">
                    <a16:creationId xmlns:a16="http://schemas.microsoft.com/office/drawing/2014/main" id="{8C93CC69-A2A0-A402-F874-C612C86A2D3D}"/>
                  </a:ext>
                </a:extLst>
              </p:cNvPr>
              <p:cNvSpPr txBox="1">
                <a:spLocks noRot="1" noChangeAspect="1" noMove="1" noResize="1" noEditPoints="1" noAdjustHandles="1" noChangeArrowheads="1" noChangeShapeType="1" noTextEdit="1"/>
              </p:cNvSpPr>
              <p:nvPr/>
            </p:nvSpPr>
            <p:spPr>
              <a:xfrm>
                <a:off x="1018434" y="17823550"/>
                <a:ext cx="9935732" cy="14799116"/>
              </a:xfrm>
              <a:prstGeom prst="rect">
                <a:avLst/>
              </a:prstGeom>
              <a:blipFill>
                <a:blip r:embed="rId5"/>
                <a:stretch>
                  <a:fillRect l="-1534" t="-494" r="-2147"/>
                </a:stretch>
              </a:blipFill>
            </p:spPr>
            <p:txBody>
              <a:bodyPr/>
              <a:lstStyle/>
              <a:p>
                <a:r>
                  <a:rPr lang="en-US">
                    <a:noFill/>
                  </a:rPr>
                  <a:t> </a:t>
                </a:r>
              </a:p>
            </p:txBody>
          </p:sp>
        </mc:Fallback>
      </mc:AlternateContent>
      <p:pic>
        <p:nvPicPr>
          <p:cNvPr id="1076" name="Picture 1075" descr="A diagram of a graph&#10;&#10;Description automatically generated with medium confidence">
            <a:extLst>
              <a:ext uri="{FF2B5EF4-FFF2-40B4-BE49-F238E27FC236}">
                <a16:creationId xmlns:a16="http://schemas.microsoft.com/office/drawing/2014/main" id="{B588592F-82F2-8680-D3BB-7418F0C7D6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167284" y="12275665"/>
            <a:ext cx="5697898" cy="4180629"/>
          </a:xfrm>
          <a:prstGeom prst="rect">
            <a:avLst/>
          </a:prstGeom>
        </p:spPr>
      </p:pic>
      <p:pic>
        <p:nvPicPr>
          <p:cNvPr id="53" name="Picture 52" descr="A black background with a black square&#10;&#10;Description automatically generated">
            <a:extLst>
              <a:ext uri="{FF2B5EF4-FFF2-40B4-BE49-F238E27FC236}">
                <a16:creationId xmlns:a16="http://schemas.microsoft.com/office/drawing/2014/main" id="{3FE850A8-17DE-9187-2F87-E9E60482FD9E}"/>
              </a:ext>
            </a:extLst>
          </p:cNvPr>
          <p:cNvPicPr>
            <a:picLocks noChangeAspect="1"/>
          </p:cNvPicPr>
          <p:nvPr/>
        </p:nvPicPr>
        <p:blipFill rotWithShape="1">
          <a:blip r:embed="rId7"/>
          <a:srcRect l="9738" t="38144" r="46303" b="34273"/>
          <a:stretch/>
        </p:blipFill>
        <p:spPr>
          <a:xfrm>
            <a:off x="24887039" y="1498219"/>
            <a:ext cx="14538841" cy="2280664"/>
          </a:xfrm>
          <a:prstGeom prst="rect">
            <a:avLst/>
          </a:prstGeom>
        </p:spPr>
      </p:pic>
      <p:pic>
        <p:nvPicPr>
          <p:cNvPr id="55" name="Picture 54" descr="A blue circle with white logo&#10;&#10;Description automatically generated">
            <a:extLst>
              <a:ext uri="{FF2B5EF4-FFF2-40B4-BE49-F238E27FC236}">
                <a16:creationId xmlns:a16="http://schemas.microsoft.com/office/drawing/2014/main" id="{89A8CA72-E21E-64B0-170E-79C854B17A1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251379" y="528827"/>
            <a:ext cx="5522566" cy="4141925"/>
          </a:xfrm>
          <a:prstGeom prst="rect">
            <a:avLst/>
          </a:prstGeom>
        </p:spPr>
      </p:pic>
      <p:sp>
        <p:nvSpPr>
          <p:cNvPr id="57" name="Rectangle 56">
            <a:extLst>
              <a:ext uri="{FF2B5EF4-FFF2-40B4-BE49-F238E27FC236}">
                <a16:creationId xmlns:a16="http://schemas.microsoft.com/office/drawing/2014/main" id="{3632F84E-5A90-E4CE-106D-C291A121F26A}"/>
              </a:ext>
            </a:extLst>
          </p:cNvPr>
          <p:cNvSpPr/>
          <p:nvPr/>
        </p:nvSpPr>
        <p:spPr>
          <a:xfrm>
            <a:off x="12244299" y="25709876"/>
            <a:ext cx="1097280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Summary</a:t>
            </a:r>
            <a:endParaRPr lang="en-US" sz="4400"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066A57E1-D1F1-C554-1982-6A899CB1FB31}"/>
              </a:ext>
            </a:extLst>
          </p:cNvPr>
          <p:cNvSpPr/>
          <p:nvPr/>
        </p:nvSpPr>
        <p:spPr>
          <a:xfrm>
            <a:off x="24608374" y="25721192"/>
            <a:ext cx="1097280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Future Work</a:t>
            </a:r>
            <a:endParaRPr lang="en-US" sz="4400" dirty="0">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245151D9-8FCB-4FEB-D1AF-7D6B3571399B}"/>
              </a:ext>
            </a:extLst>
          </p:cNvPr>
          <p:cNvSpPr/>
          <p:nvPr/>
        </p:nvSpPr>
        <p:spPr>
          <a:xfrm>
            <a:off x="36515709" y="29485628"/>
            <a:ext cx="3706877"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Arial" panose="020B0604020202020204" pitchFamily="34" charset="0"/>
                <a:cs typeface="Arial" panose="020B0604020202020204" pitchFamily="34" charset="0"/>
              </a:rPr>
              <a:t>Personal Website</a:t>
            </a:r>
            <a:endParaRPr lang="en-US" sz="3200" dirty="0">
              <a:latin typeface="Arial" panose="020B0604020202020204" pitchFamily="34" charset="0"/>
              <a:cs typeface="Arial" panose="020B0604020202020204" pitchFamily="34" charset="0"/>
            </a:endParaRPr>
          </a:p>
        </p:txBody>
      </p:sp>
      <p:pic>
        <p:nvPicPr>
          <p:cNvPr id="60" name="Picture 59" descr="A qr code with a white background&#10;&#10;Description automatically generated">
            <a:extLst>
              <a:ext uri="{FF2B5EF4-FFF2-40B4-BE49-F238E27FC236}">
                <a16:creationId xmlns:a16="http://schemas.microsoft.com/office/drawing/2014/main" id="{0651C6CF-9B56-B593-2A97-C79224BF4EB5}"/>
              </a:ext>
            </a:extLst>
          </p:cNvPr>
          <p:cNvPicPr>
            <a:picLocks noChangeAspect="1"/>
          </p:cNvPicPr>
          <p:nvPr/>
        </p:nvPicPr>
        <p:blipFill>
          <a:blip r:embed="rId9"/>
          <a:stretch>
            <a:fillRect/>
          </a:stretch>
        </p:blipFill>
        <p:spPr>
          <a:xfrm>
            <a:off x="37420162" y="30361223"/>
            <a:ext cx="1662433" cy="1651404"/>
          </a:xfrm>
          <a:prstGeom prst="rect">
            <a:avLst/>
          </a:prstGeom>
        </p:spPr>
      </p:pic>
      <p:pic>
        <p:nvPicPr>
          <p:cNvPr id="1058" name="Picture 1057">
            <a:extLst>
              <a:ext uri="{FF2B5EF4-FFF2-40B4-BE49-F238E27FC236}">
                <a16:creationId xmlns:a16="http://schemas.microsoft.com/office/drawing/2014/main" id="{19DB75B4-CBB9-145E-AB96-4BB59814FB6A}"/>
              </a:ext>
            </a:extLst>
          </p:cNvPr>
          <p:cNvPicPr>
            <a:picLocks noChangeAspect="1"/>
          </p:cNvPicPr>
          <p:nvPr/>
        </p:nvPicPr>
        <p:blipFill>
          <a:blip r:embed="rId10"/>
          <a:stretch>
            <a:fillRect/>
          </a:stretch>
        </p:blipFill>
        <p:spPr>
          <a:xfrm>
            <a:off x="12439032" y="16889290"/>
            <a:ext cx="14248708" cy="6173061"/>
          </a:xfrm>
          <a:prstGeom prst="rect">
            <a:avLst/>
          </a:prstGeom>
        </p:spPr>
      </p:pic>
      <p:sp>
        <p:nvSpPr>
          <p:cNvPr id="1034" name="Rectangle 1033">
            <a:extLst>
              <a:ext uri="{FF2B5EF4-FFF2-40B4-BE49-F238E27FC236}">
                <a16:creationId xmlns:a16="http://schemas.microsoft.com/office/drawing/2014/main" id="{5E4F0EDE-45FE-AFE8-780C-DD0D78E4631C}"/>
              </a:ext>
            </a:extLst>
          </p:cNvPr>
          <p:cNvSpPr/>
          <p:nvPr/>
        </p:nvSpPr>
        <p:spPr>
          <a:xfrm>
            <a:off x="36515710" y="25721192"/>
            <a:ext cx="645943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Acknowledgements</a:t>
            </a:r>
            <a:endParaRPr lang="en-US" sz="4400" dirty="0">
              <a:latin typeface="Arial" panose="020B0604020202020204" pitchFamily="34" charset="0"/>
              <a:cs typeface="Arial" panose="020B0604020202020204" pitchFamily="34" charset="0"/>
            </a:endParaRPr>
          </a:p>
        </p:txBody>
      </p:sp>
      <p:sp>
        <p:nvSpPr>
          <p:cNvPr id="1041" name="Rectangle 1040">
            <a:extLst>
              <a:ext uri="{FF2B5EF4-FFF2-40B4-BE49-F238E27FC236}">
                <a16:creationId xmlns:a16="http://schemas.microsoft.com/office/drawing/2014/main" id="{DD7A1D7B-1359-E3CC-355D-1039D027E776}"/>
              </a:ext>
            </a:extLst>
          </p:cNvPr>
          <p:cNvSpPr/>
          <p:nvPr/>
        </p:nvSpPr>
        <p:spPr>
          <a:xfrm>
            <a:off x="40222586" y="29484422"/>
            <a:ext cx="2743200" cy="252820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6" name="Group 1055">
            <a:extLst>
              <a:ext uri="{FF2B5EF4-FFF2-40B4-BE49-F238E27FC236}">
                <a16:creationId xmlns:a16="http://schemas.microsoft.com/office/drawing/2014/main" id="{D29E7F89-D85E-3D0F-BBE5-9B75790EB38C}"/>
              </a:ext>
            </a:extLst>
          </p:cNvPr>
          <p:cNvGrpSpPr/>
          <p:nvPr/>
        </p:nvGrpSpPr>
        <p:grpSpPr>
          <a:xfrm>
            <a:off x="12392206" y="7568942"/>
            <a:ext cx="14165346" cy="7815709"/>
            <a:chOff x="12346535" y="14119741"/>
            <a:chExt cx="14165346" cy="7815709"/>
          </a:xfrm>
        </p:grpSpPr>
        <p:sp>
          <p:nvSpPr>
            <p:cNvPr id="47" name="TextBox 46">
              <a:extLst>
                <a:ext uri="{FF2B5EF4-FFF2-40B4-BE49-F238E27FC236}">
                  <a16:creationId xmlns:a16="http://schemas.microsoft.com/office/drawing/2014/main" id="{3B10ECF3-1B95-FC89-F385-209600276406}"/>
                </a:ext>
              </a:extLst>
            </p:cNvPr>
            <p:cNvSpPr txBox="1"/>
            <p:nvPr/>
          </p:nvSpPr>
          <p:spPr>
            <a:xfrm>
              <a:off x="12346535" y="19996458"/>
              <a:ext cx="13889711" cy="1938992"/>
            </a:xfrm>
            <a:prstGeom prst="rect">
              <a:avLst/>
            </a:prstGeom>
            <a:noFill/>
          </p:spPr>
          <p:txBody>
            <a:bodyPr wrap="square" rtlCol="0">
              <a:spAutoFit/>
            </a:bodyPr>
            <a:lstStyle/>
            <a:p>
              <a:r>
                <a:rPr lang="en-US" sz="2400" dirty="0"/>
                <a:t>Figure 1: A long dispersion whistler from 02:35:15 to 02:25:22, as well as a medium dispersion whistler from 02:35:20 to 02:35:21. This is a rare case of a simultaneous medium and long dispersion whistler, which serves to visually show the difference. Direction finding identifies the whistlers having different phases, showing the medium dispersion whistler traveling up from Jupiter and the long dispersion whistler traveling through the Io torus.</a:t>
              </a:r>
            </a:p>
          </p:txBody>
        </p:sp>
        <p:pic>
          <p:nvPicPr>
            <p:cNvPr id="1044" name="Picture 1043" descr="A close-up of a blue screen&#10;&#10;Description automatically generated">
              <a:extLst>
                <a:ext uri="{FF2B5EF4-FFF2-40B4-BE49-F238E27FC236}">
                  <a16:creationId xmlns:a16="http://schemas.microsoft.com/office/drawing/2014/main" id="{0B592661-FFDE-DCF7-912C-7E886F3312F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352694" y="14119741"/>
              <a:ext cx="14159187" cy="5418290"/>
            </a:xfrm>
            <a:prstGeom prst="rect">
              <a:avLst/>
            </a:prstGeom>
          </p:spPr>
        </p:pic>
        <p:sp>
          <p:nvSpPr>
            <p:cNvPr id="1049" name="TextBox 1048">
              <a:extLst>
                <a:ext uri="{FF2B5EF4-FFF2-40B4-BE49-F238E27FC236}">
                  <a16:creationId xmlns:a16="http://schemas.microsoft.com/office/drawing/2014/main" id="{675B0332-9D1F-E964-0CE2-2E74CED85663}"/>
                </a:ext>
              </a:extLst>
            </p:cNvPr>
            <p:cNvSpPr txBox="1"/>
            <p:nvPr/>
          </p:nvSpPr>
          <p:spPr>
            <a:xfrm>
              <a:off x="24074640" y="14241435"/>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0" name="TextBox 1049">
              <a:extLst>
                <a:ext uri="{FF2B5EF4-FFF2-40B4-BE49-F238E27FC236}">
                  <a16:creationId xmlns:a16="http://schemas.microsoft.com/office/drawing/2014/main" id="{51210DFF-3234-5AB8-7824-DB32E847BB4B}"/>
                </a:ext>
              </a:extLst>
            </p:cNvPr>
            <p:cNvSpPr txBox="1"/>
            <p:nvPr/>
          </p:nvSpPr>
          <p:spPr>
            <a:xfrm>
              <a:off x="24052960" y="15938093"/>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1" name="TextBox 1050">
              <a:extLst>
                <a:ext uri="{FF2B5EF4-FFF2-40B4-BE49-F238E27FC236}">
                  <a16:creationId xmlns:a16="http://schemas.microsoft.com/office/drawing/2014/main" id="{9BA579DF-E471-10C9-E76F-ECE2722C98F3}"/>
                </a:ext>
              </a:extLst>
            </p:cNvPr>
            <p:cNvSpPr txBox="1"/>
            <p:nvPr/>
          </p:nvSpPr>
          <p:spPr>
            <a:xfrm>
              <a:off x="17461424" y="14287861"/>
              <a:ext cx="601884" cy="830997"/>
            </a:xfrm>
            <a:prstGeom prst="rect">
              <a:avLst/>
            </a:prstGeom>
            <a:noFill/>
          </p:spPr>
          <p:txBody>
            <a:bodyPr wrap="square" rtlCol="0">
              <a:spAutoFit/>
            </a:bodyPr>
            <a:lstStyle/>
            <a:p>
              <a:r>
                <a:rPr lang="en-US" sz="4800" dirty="0">
                  <a:solidFill>
                    <a:schemeClr val="accent2"/>
                  </a:solidFill>
                </a:rPr>
                <a:t>L</a:t>
              </a:r>
              <a:endParaRPr lang="en-US" dirty="0">
                <a:solidFill>
                  <a:schemeClr val="accent2"/>
                </a:solidFill>
              </a:endParaRPr>
            </a:p>
          </p:txBody>
        </p:sp>
        <p:sp>
          <p:nvSpPr>
            <p:cNvPr id="1052" name="TextBox 1051">
              <a:extLst>
                <a:ext uri="{FF2B5EF4-FFF2-40B4-BE49-F238E27FC236}">
                  <a16:creationId xmlns:a16="http://schemas.microsoft.com/office/drawing/2014/main" id="{266A0E88-E8A7-2372-5D6D-09F30D88C9B0}"/>
                </a:ext>
              </a:extLst>
            </p:cNvPr>
            <p:cNvSpPr txBox="1"/>
            <p:nvPr/>
          </p:nvSpPr>
          <p:spPr>
            <a:xfrm>
              <a:off x="17461424" y="15980291"/>
              <a:ext cx="601884" cy="830997"/>
            </a:xfrm>
            <a:prstGeom prst="rect">
              <a:avLst/>
            </a:prstGeom>
            <a:noFill/>
          </p:spPr>
          <p:txBody>
            <a:bodyPr wrap="square" rtlCol="0">
              <a:spAutoFit/>
            </a:bodyPr>
            <a:lstStyle/>
            <a:p>
              <a:r>
                <a:rPr lang="en-US" sz="4800" dirty="0">
                  <a:solidFill>
                    <a:schemeClr val="accent2"/>
                  </a:solidFill>
                </a:rPr>
                <a:t>L</a:t>
              </a:r>
              <a:endParaRPr lang="en-US" dirty="0">
                <a:solidFill>
                  <a:schemeClr val="accent2"/>
                </a:solidFill>
              </a:endParaRPr>
            </a:p>
          </p:txBody>
        </p:sp>
      </p:grpSp>
      <p:grpSp>
        <p:nvGrpSpPr>
          <p:cNvPr id="1055" name="Group 1054">
            <a:extLst>
              <a:ext uri="{FF2B5EF4-FFF2-40B4-BE49-F238E27FC236}">
                <a16:creationId xmlns:a16="http://schemas.microsoft.com/office/drawing/2014/main" id="{6C1DFFD6-C29B-05A0-60FF-6A2C253D5757}"/>
              </a:ext>
            </a:extLst>
          </p:cNvPr>
          <p:cNvGrpSpPr/>
          <p:nvPr/>
        </p:nvGrpSpPr>
        <p:grpSpPr>
          <a:xfrm>
            <a:off x="12518468" y="17408051"/>
            <a:ext cx="13918979" cy="6899933"/>
            <a:chOff x="12228007" y="7167743"/>
            <a:chExt cx="13918979" cy="6899933"/>
          </a:xfrm>
        </p:grpSpPr>
        <p:sp>
          <p:nvSpPr>
            <p:cNvPr id="46" name="TextBox 45">
              <a:extLst>
                <a:ext uri="{FF2B5EF4-FFF2-40B4-BE49-F238E27FC236}">
                  <a16:creationId xmlns:a16="http://schemas.microsoft.com/office/drawing/2014/main" id="{FC6D3C75-7B39-7078-AD45-1799BC2DC823}"/>
                </a:ext>
              </a:extLst>
            </p:cNvPr>
            <p:cNvSpPr txBox="1"/>
            <p:nvPr/>
          </p:nvSpPr>
          <p:spPr>
            <a:xfrm>
              <a:off x="12228007" y="12867347"/>
              <a:ext cx="13918979" cy="1200329"/>
            </a:xfrm>
            <a:prstGeom prst="rect">
              <a:avLst/>
            </a:prstGeom>
            <a:noFill/>
          </p:spPr>
          <p:txBody>
            <a:bodyPr wrap="square" rtlCol="0">
              <a:spAutoFit/>
            </a:bodyPr>
            <a:lstStyle/>
            <a:p>
              <a:r>
                <a:rPr lang="en-US" sz="2400" dirty="0"/>
                <a:t>Figure 2: A Medium Dispersion whistler shown between 02:51:53 and 02:51:54.</a:t>
              </a:r>
            </a:p>
            <a:p>
              <a:r>
                <a:rPr lang="en-US" sz="2400" dirty="0"/>
                <a:t>While difficult to see, signal is strong enough to obtain direction finding, proving it is a medium dispersion whistler</a:t>
              </a:r>
            </a:p>
          </p:txBody>
        </p:sp>
        <p:sp>
          <p:nvSpPr>
            <p:cNvPr id="1053" name="TextBox 1052">
              <a:extLst>
                <a:ext uri="{FF2B5EF4-FFF2-40B4-BE49-F238E27FC236}">
                  <a16:creationId xmlns:a16="http://schemas.microsoft.com/office/drawing/2014/main" id="{A1DDD422-3D30-DF7A-BF90-E11395C2DA92}"/>
                </a:ext>
              </a:extLst>
            </p:cNvPr>
            <p:cNvSpPr txBox="1"/>
            <p:nvPr/>
          </p:nvSpPr>
          <p:spPr>
            <a:xfrm>
              <a:off x="18066077" y="10462854"/>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4" name="TextBox 1053">
              <a:extLst>
                <a:ext uri="{FF2B5EF4-FFF2-40B4-BE49-F238E27FC236}">
                  <a16:creationId xmlns:a16="http://schemas.microsoft.com/office/drawing/2014/main" id="{93A9158F-17A7-922F-B115-9659C2C41567}"/>
                </a:ext>
              </a:extLst>
            </p:cNvPr>
            <p:cNvSpPr txBox="1"/>
            <p:nvPr/>
          </p:nvSpPr>
          <p:spPr>
            <a:xfrm>
              <a:off x="18066077" y="7167743"/>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grpSp>
      <p:sp>
        <p:nvSpPr>
          <p:cNvPr id="1060" name="Text Box 405">
            <a:extLst>
              <a:ext uri="{FF2B5EF4-FFF2-40B4-BE49-F238E27FC236}">
                <a16:creationId xmlns:a16="http://schemas.microsoft.com/office/drawing/2014/main" id="{CCF32E50-FDDC-2923-9D12-D8F72E0B862E}"/>
              </a:ext>
            </a:extLst>
          </p:cNvPr>
          <p:cNvSpPr txBox="1">
            <a:spLocks noChangeArrowheads="1"/>
          </p:cNvSpPr>
          <p:nvPr/>
        </p:nvSpPr>
        <p:spPr bwMode="auto">
          <a:xfrm>
            <a:off x="38036616" y="7234470"/>
            <a:ext cx="4938524" cy="5262979"/>
          </a:xfrm>
          <a:prstGeom prst="rect">
            <a:avLst/>
          </a:prstGeom>
          <a:solidFill>
            <a:schemeClr val="bg1"/>
          </a:solidFill>
          <a:ln w="9525">
            <a:noFill/>
            <a:miter lim="800000"/>
            <a:headEnd/>
            <a:tailEnd/>
          </a:ln>
        </p:spPr>
        <p:txBody>
          <a:bodyPr wrap="square">
            <a:spAutoFit/>
          </a:bodyPr>
          <a:lstStyle>
            <a:lvl1pPr defTabSz="4230688">
              <a:spcBef>
                <a:spcPct val="20000"/>
              </a:spcBef>
              <a:buChar char="•"/>
              <a:defRPr sz="14600">
                <a:solidFill>
                  <a:schemeClr val="tx1"/>
                </a:solidFill>
                <a:latin typeface="Arial" panose="020B0604020202020204" pitchFamily="34" charset="0"/>
              </a:defRPr>
            </a:lvl1pPr>
            <a:lvl2pPr marL="742950" indent="-285750" defTabSz="4230688">
              <a:spcBef>
                <a:spcPct val="20000"/>
              </a:spcBef>
              <a:buChar char="–"/>
              <a:defRPr sz="13100">
                <a:solidFill>
                  <a:schemeClr val="tx1"/>
                </a:solidFill>
                <a:latin typeface="Arial" panose="020B0604020202020204" pitchFamily="34" charset="0"/>
              </a:defRPr>
            </a:lvl2pPr>
            <a:lvl3pPr marL="1143000" indent="-228600" defTabSz="4230688">
              <a:spcBef>
                <a:spcPct val="20000"/>
              </a:spcBef>
              <a:buChar char="•"/>
              <a:defRPr sz="11100">
                <a:solidFill>
                  <a:schemeClr val="tx1"/>
                </a:solidFill>
                <a:latin typeface="Arial" panose="020B0604020202020204" pitchFamily="34" charset="0"/>
              </a:defRPr>
            </a:lvl3pPr>
            <a:lvl4pPr marL="1600200" indent="-228600" defTabSz="4230688">
              <a:spcBef>
                <a:spcPct val="20000"/>
              </a:spcBef>
              <a:buChar char="–"/>
              <a:defRPr sz="9100">
                <a:solidFill>
                  <a:schemeClr val="tx1"/>
                </a:solidFill>
                <a:latin typeface="Arial" panose="020B0604020202020204" pitchFamily="34" charset="0"/>
              </a:defRPr>
            </a:lvl4pPr>
            <a:lvl5pPr marL="2057400" indent="-228600" defTabSz="4230688">
              <a:spcBef>
                <a:spcPct val="20000"/>
              </a:spcBef>
              <a:buChar char="»"/>
              <a:defRPr sz="9100">
                <a:solidFill>
                  <a:schemeClr val="tx1"/>
                </a:solidFill>
                <a:latin typeface="Arial" panose="020B0604020202020204" pitchFamily="34" charset="0"/>
              </a:defRPr>
            </a:lvl5pPr>
            <a:lvl6pPr marL="25146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6pPr>
            <a:lvl7pPr marL="29718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7pPr>
            <a:lvl8pPr marL="34290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8pPr>
            <a:lvl9pPr marL="38862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9pPr>
          </a:lstStyle>
          <a:p>
            <a:pPr eaLnBrk="1" hangingPunct="1">
              <a:spcBef>
                <a:spcPct val="0"/>
              </a:spcBef>
              <a:buFontTx/>
              <a:buNone/>
            </a:pPr>
            <a:r>
              <a:rPr lang="en-US" altLang="en-US" sz="2400" dirty="0">
                <a:latin typeface="+mn-lt"/>
              </a:rPr>
              <a:t>Figure 7:</a:t>
            </a:r>
            <a:r>
              <a:rPr lang="en-US" altLang="en-US" sz="2400" b="1" dirty="0">
                <a:solidFill>
                  <a:srgbClr val="FF0000"/>
                </a:solidFill>
                <a:latin typeface="+mn-lt"/>
              </a:rPr>
              <a:t> </a:t>
            </a:r>
            <a:r>
              <a:rPr lang="en-US" altLang="en-US" sz="2400" dirty="0">
                <a:latin typeface="+mn-lt"/>
              </a:rPr>
              <a:t>The trajectory of Juno in the Jupiter magnetic Rho vs. Z coordinate system determined using the JRM33 and CS2020 models. Measured long dispersion whistlers are marked in red. The red A and B shows the approximate location of Juno when the whistlers shown in Figures 1 and 2, and Figure 6 respectively were detected. Lines of constant </a:t>
            </a:r>
            <a:r>
              <a:rPr lang="en-US" altLang="en-US" sz="2400" dirty="0" err="1">
                <a:latin typeface="+mn-lt"/>
              </a:rPr>
              <a:t>mshell</a:t>
            </a:r>
            <a:r>
              <a:rPr lang="en-US" altLang="en-US" sz="2400" dirty="0">
                <a:latin typeface="+mn-lt"/>
              </a:rPr>
              <a:t> at 6 and 10 R</a:t>
            </a:r>
            <a:r>
              <a:rPr lang="en-US" altLang="en-US" sz="2400" baseline="-25000" dirty="0">
                <a:latin typeface="+mn-lt"/>
              </a:rPr>
              <a:t>J</a:t>
            </a:r>
            <a:r>
              <a:rPr lang="en-US" altLang="en-US" sz="2400" dirty="0">
                <a:latin typeface="+mn-lt"/>
              </a:rPr>
              <a:t> above the magnetic equator are plotted to estimate field lines that map to the Io torus.</a:t>
            </a:r>
          </a:p>
        </p:txBody>
      </p:sp>
      <p:pic>
        <p:nvPicPr>
          <p:cNvPr id="1062" name="Picture 1061">
            <a:extLst>
              <a:ext uri="{FF2B5EF4-FFF2-40B4-BE49-F238E27FC236}">
                <a16:creationId xmlns:a16="http://schemas.microsoft.com/office/drawing/2014/main" id="{AAF9822C-06B4-FF66-ABEA-F44F644B5F0E}"/>
              </a:ext>
            </a:extLst>
          </p:cNvPr>
          <p:cNvPicPr>
            <a:picLocks noChangeAspect="1"/>
          </p:cNvPicPr>
          <p:nvPr/>
        </p:nvPicPr>
        <p:blipFill>
          <a:blip r:embed="rId12"/>
          <a:srcRect b="5718"/>
          <a:stretch/>
        </p:blipFill>
        <p:spPr>
          <a:xfrm>
            <a:off x="26915502" y="16883656"/>
            <a:ext cx="15581583" cy="5865006"/>
          </a:xfrm>
          <a:prstGeom prst="rect">
            <a:avLst/>
          </a:prstGeom>
        </p:spPr>
      </p:pic>
      <p:sp>
        <p:nvSpPr>
          <p:cNvPr id="1063" name="TextBox 1062">
            <a:extLst>
              <a:ext uri="{FF2B5EF4-FFF2-40B4-BE49-F238E27FC236}">
                <a16:creationId xmlns:a16="http://schemas.microsoft.com/office/drawing/2014/main" id="{CD6F5A5D-9F52-0575-4987-3BD894531E8F}"/>
              </a:ext>
            </a:extLst>
          </p:cNvPr>
          <p:cNvSpPr txBox="1"/>
          <p:nvPr/>
        </p:nvSpPr>
        <p:spPr>
          <a:xfrm>
            <a:off x="27350666" y="22749867"/>
            <a:ext cx="13918979" cy="1200329"/>
          </a:xfrm>
          <a:prstGeom prst="rect">
            <a:avLst/>
          </a:prstGeom>
          <a:noFill/>
        </p:spPr>
        <p:txBody>
          <a:bodyPr wrap="square" rtlCol="0">
            <a:spAutoFit/>
          </a:bodyPr>
          <a:lstStyle/>
          <a:p>
            <a:r>
              <a:rPr lang="en-US" sz="2400" dirty="0"/>
              <a:t>Figure 6: A cluster of multiple long dispersion whistlers, shown both in the electric field(top) and magnetic field(bottom) frequencies. Note that these whistlers have dispersion constants ranging from 545 to 1915 within a short timespan</a:t>
            </a:r>
          </a:p>
        </p:txBody>
      </p:sp>
      <p:pic>
        <p:nvPicPr>
          <p:cNvPr id="1064" name="Picture 10">
            <a:extLst>
              <a:ext uri="{FF2B5EF4-FFF2-40B4-BE49-F238E27FC236}">
                <a16:creationId xmlns:a16="http://schemas.microsoft.com/office/drawing/2014/main" id="{401EE66F-058C-AEE6-7AC9-380441D68A4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71669" y="8293270"/>
            <a:ext cx="5551162" cy="366561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12">
            <a:extLst>
              <a:ext uri="{FF2B5EF4-FFF2-40B4-BE49-F238E27FC236}">
                <a16:creationId xmlns:a16="http://schemas.microsoft.com/office/drawing/2014/main" id="{7D1948D2-B658-ED87-7056-D84A273600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289566" y="8307741"/>
            <a:ext cx="5507329" cy="3636669"/>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1066" descr="A person standing in front of a green railing&#10;&#10;Description automatically generated">
            <a:extLst>
              <a:ext uri="{FF2B5EF4-FFF2-40B4-BE49-F238E27FC236}">
                <a16:creationId xmlns:a16="http://schemas.microsoft.com/office/drawing/2014/main" id="{925FBB45-2107-3C91-B4E3-AAB48D9A47E0}"/>
              </a:ext>
            </a:extLst>
          </p:cNvPr>
          <p:cNvPicPr>
            <a:picLocks noChangeAspect="1"/>
          </p:cNvPicPr>
          <p:nvPr/>
        </p:nvPicPr>
        <p:blipFill>
          <a:blip r:embed="rId15">
            <a:extLst>
              <a:ext uri="{28A0092B-C50C-407E-A947-70E740481C1C}">
                <a14:useLocalDpi xmlns:a14="http://schemas.microsoft.com/office/drawing/2010/main" val="0"/>
              </a:ext>
            </a:extLst>
          </a:blip>
          <a:srcRect l="58942" t="18514" r="7785" b="40845"/>
          <a:stretch/>
        </p:blipFill>
        <p:spPr>
          <a:xfrm rot="10800000">
            <a:off x="40404825" y="29659003"/>
            <a:ext cx="2378721" cy="2179041"/>
          </a:xfrm>
          <a:prstGeom prst="rect">
            <a:avLst/>
          </a:prstGeom>
        </p:spPr>
      </p:pic>
      <p:sp>
        <p:nvSpPr>
          <p:cNvPr id="1068" name="Rectangle 1067">
            <a:extLst>
              <a:ext uri="{FF2B5EF4-FFF2-40B4-BE49-F238E27FC236}">
                <a16:creationId xmlns:a16="http://schemas.microsoft.com/office/drawing/2014/main" id="{C42C24E4-1039-1CE5-B0FD-BE46061B9BA4}"/>
              </a:ext>
            </a:extLst>
          </p:cNvPr>
          <p:cNvSpPr/>
          <p:nvPr/>
        </p:nvSpPr>
        <p:spPr>
          <a:xfrm>
            <a:off x="12306413" y="7323279"/>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1</a:t>
            </a:r>
            <a:endParaRPr lang="en-US" dirty="0"/>
          </a:p>
        </p:txBody>
      </p:sp>
      <p:sp>
        <p:nvSpPr>
          <p:cNvPr id="1069" name="Rectangle 1068">
            <a:extLst>
              <a:ext uri="{FF2B5EF4-FFF2-40B4-BE49-F238E27FC236}">
                <a16:creationId xmlns:a16="http://schemas.microsoft.com/office/drawing/2014/main" id="{1F93DC0B-F4EC-DE3C-ED26-7B7E5C09DEE5}"/>
              </a:ext>
            </a:extLst>
          </p:cNvPr>
          <p:cNvSpPr/>
          <p:nvPr/>
        </p:nvSpPr>
        <p:spPr>
          <a:xfrm>
            <a:off x="12317267" y="16372777"/>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2</a:t>
            </a:r>
            <a:endParaRPr lang="en-US" dirty="0"/>
          </a:p>
        </p:txBody>
      </p:sp>
      <p:sp>
        <p:nvSpPr>
          <p:cNvPr id="1070" name="Rectangle 1069">
            <a:extLst>
              <a:ext uri="{FF2B5EF4-FFF2-40B4-BE49-F238E27FC236}">
                <a16:creationId xmlns:a16="http://schemas.microsoft.com/office/drawing/2014/main" id="{21018AC9-E3C3-B26D-B84C-7614D57A16A0}"/>
              </a:ext>
            </a:extLst>
          </p:cNvPr>
          <p:cNvSpPr/>
          <p:nvPr/>
        </p:nvSpPr>
        <p:spPr>
          <a:xfrm>
            <a:off x="27324139" y="16604807"/>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6</a:t>
            </a:r>
            <a:endParaRPr lang="en-US" dirty="0"/>
          </a:p>
        </p:txBody>
      </p:sp>
      <p:sp>
        <p:nvSpPr>
          <p:cNvPr id="1071" name="Rectangle 1070">
            <a:extLst>
              <a:ext uri="{FF2B5EF4-FFF2-40B4-BE49-F238E27FC236}">
                <a16:creationId xmlns:a16="http://schemas.microsoft.com/office/drawing/2014/main" id="{DFF56549-3F0E-40C0-3424-A7DDCE4D7B70}"/>
              </a:ext>
            </a:extLst>
          </p:cNvPr>
          <p:cNvSpPr/>
          <p:nvPr/>
        </p:nvSpPr>
        <p:spPr>
          <a:xfrm>
            <a:off x="27300101" y="7745219"/>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3</a:t>
            </a:r>
            <a:endParaRPr lang="en-US" dirty="0"/>
          </a:p>
        </p:txBody>
      </p:sp>
      <p:sp>
        <p:nvSpPr>
          <p:cNvPr id="1072" name="Rectangle 1071">
            <a:extLst>
              <a:ext uri="{FF2B5EF4-FFF2-40B4-BE49-F238E27FC236}">
                <a16:creationId xmlns:a16="http://schemas.microsoft.com/office/drawing/2014/main" id="{030A0C3A-0723-FEF7-7696-6843ED0AB86C}"/>
              </a:ext>
            </a:extLst>
          </p:cNvPr>
          <p:cNvSpPr/>
          <p:nvPr/>
        </p:nvSpPr>
        <p:spPr>
          <a:xfrm>
            <a:off x="32360088" y="7798204"/>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4</a:t>
            </a:r>
            <a:endParaRPr lang="en-US" dirty="0"/>
          </a:p>
        </p:txBody>
      </p:sp>
      <p:sp>
        <p:nvSpPr>
          <p:cNvPr id="1073" name="Rectangle 1072">
            <a:extLst>
              <a:ext uri="{FF2B5EF4-FFF2-40B4-BE49-F238E27FC236}">
                <a16:creationId xmlns:a16="http://schemas.microsoft.com/office/drawing/2014/main" id="{7CDB379D-4F7D-31FC-721C-BE811015B1CA}"/>
              </a:ext>
            </a:extLst>
          </p:cNvPr>
          <p:cNvSpPr/>
          <p:nvPr/>
        </p:nvSpPr>
        <p:spPr>
          <a:xfrm>
            <a:off x="27324139" y="12036154"/>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5</a:t>
            </a:r>
            <a:endParaRPr lang="en-US" dirty="0"/>
          </a:p>
        </p:txBody>
      </p:sp>
      <p:sp>
        <p:nvSpPr>
          <p:cNvPr id="1074" name="Rectangle 1073">
            <a:extLst>
              <a:ext uri="{FF2B5EF4-FFF2-40B4-BE49-F238E27FC236}">
                <a16:creationId xmlns:a16="http://schemas.microsoft.com/office/drawing/2014/main" id="{F88B7827-A840-5BFD-D355-C3C1DDF4EF79}"/>
              </a:ext>
            </a:extLst>
          </p:cNvPr>
          <p:cNvSpPr/>
          <p:nvPr/>
        </p:nvSpPr>
        <p:spPr>
          <a:xfrm>
            <a:off x="37490571" y="12037243"/>
            <a:ext cx="612648" cy="615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7</a:t>
            </a:r>
            <a:endParaRPr lang="en-US" dirty="0"/>
          </a:p>
        </p:txBody>
      </p:sp>
      <p:sp>
        <p:nvSpPr>
          <p:cNvPr id="1077" name="TextBox 1076">
            <a:extLst>
              <a:ext uri="{FF2B5EF4-FFF2-40B4-BE49-F238E27FC236}">
                <a16:creationId xmlns:a16="http://schemas.microsoft.com/office/drawing/2014/main" id="{A3492BED-03BE-230A-1D66-12BCDC0F45C4}"/>
              </a:ext>
            </a:extLst>
          </p:cNvPr>
          <p:cNvSpPr txBox="1"/>
          <p:nvPr/>
        </p:nvSpPr>
        <p:spPr>
          <a:xfrm>
            <a:off x="40144344" y="13346290"/>
            <a:ext cx="437734" cy="584775"/>
          </a:xfrm>
          <a:prstGeom prst="rect">
            <a:avLst/>
          </a:prstGeom>
          <a:noFill/>
        </p:spPr>
        <p:txBody>
          <a:bodyPr wrap="square" rtlCol="0">
            <a:spAutoFit/>
          </a:bodyPr>
          <a:lstStyle/>
          <a:p>
            <a:r>
              <a:rPr lang="en-US" sz="3200" dirty="0">
                <a:solidFill>
                  <a:srgbClr val="FF0000"/>
                </a:solidFill>
              </a:rPr>
              <a:t>A</a:t>
            </a:r>
            <a:endParaRPr lang="en-US" dirty="0">
              <a:solidFill>
                <a:srgbClr val="FF0000"/>
              </a:solidFill>
            </a:endParaRPr>
          </a:p>
        </p:txBody>
      </p:sp>
      <p:sp>
        <p:nvSpPr>
          <p:cNvPr id="1078" name="TextBox 1077">
            <a:extLst>
              <a:ext uri="{FF2B5EF4-FFF2-40B4-BE49-F238E27FC236}">
                <a16:creationId xmlns:a16="http://schemas.microsoft.com/office/drawing/2014/main" id="{0FBEE8A5-2856-638C-A444-DEE597622E45}"/>
              </a:ext>
            </a:extLst>
          </p:cNvPr>
          <p:cNvSpPr txBox="1"/>
          <p:nvPr/>
        </p:nvSpPr>
        <p:spPr>
          <a:xfrm>
            <a:off x="38643694" y="14718365"/>
            <a:ext cx="437734" cy="584775"/>
          </a:xfrm>
          <a:prstGeom prst="rect">
            <a:avLst/>
          </a:prstGeom>
          <a:noFill/>
        </p:spPr>
        <p:txBody>
          <a:bodyPr wrap="square" rtlCol="0">
            <a:spAutoFit/>
          </a:bodyPr>
          <a:lstStyle/>
          <a:p>
            <a:r>
              <a:rPr lang="en-US" sz="3200" dirty="0">
                <a:solidFill>
                  <a:srgbClr val="FF0000"/>
                </a:solidFill>
              </a:rPr>
              <a:t>B</a:t>
            </a:r>
            <a:endParaRPr lang="en-US" dirty="0">
              <a:solidFill>
                <a:srgbClr val="FF0000"/>
              </a:solidFill>
            </a:endParaRPr>
          </a:p>
        </p:txBody>
      </p:sp>
      <p:sp>
        <p:nvSpPr>
          <p:cNvPr id="1079" name="TextBox 1078">
            <a:extLst>
              <a:ext uri="{FF2B5EF4-FFF2-40B4-BE49-F238E27FC236}">
                <a16:creationId xmlns:a16="http://schemas.microsoft.com/office/drawing/2014/main" id="{9BE8D26D-979E-E81A-2821-5C531AF5AFDB}"/>
              </a:ext>
            </a:extLst>
          </p:cNvPr>
          <p:cNvSpPr txBox="1"/>
          <p:nvPr/>
        </p:nvSpPr>
        <p:spPr>
          <a:xfrm>
            <a:off x="38205960" y="13170547"/>
            <a:ext cx="437734" cy="584775"/>
          </a:xfrm>
          <a:prstGeom prst="rect">
            <a:avLst/>
          </a:prstGeom>
          <a:noFill/>
        </p:spPr>
        <p:txBody>
          <a:bodyPr wrap="square" rtlCol="0">
            <a:spAutoFit/>
          </a:bodyPr>
          <a:lstStyle/>
          <a:p>
            <a:r>
              <a:rPr lang="en-US" sz="3200" dirty="0">
                <a:solidFill>
                  <a:srgbClr val="FF0000"/>
                </a:solidFill>
              </a:rPr>
              <a:t>C</a:t>
            </a:r>
            <a:endParaRPr lang="en-US" dirty="0">
              <a:solidFill>
                <a:srgbClr val="FF0000"/>
              </a:solidFill>
            </a:endParaRPr>
          </a:p>
        </p:txBody>
      </p:sp>
      <p:sp>
        <p:nvSpPr>
          <p:cNvPr id="1080" name="TextBox 1079">
            <a:extLst>
              <a:ext uri="{FF2B5EF4-FFF2-40B4-BE49-F238E27FC236}">
                <a16:creationId xmlns:a16="http://schemas.microsoft.com/office/drawing/2014/main" id="{B90B6EAA-8467-9B25-E064-C1AE3F458535}"/>
              </a:ext>
            </a:extLst>
          </p:cNvPr>
          <p:cNvSpPr txBox="1"/>
          <p:nvPr/>
        </p:nvSpPr>
        <p:spPr>
          <a:xfrm>
            <a:off x="39050719" y="14665026"/>
            <a:ext cx="805537" cy="369332"/>
          </a:xfrm>
          <a:prstGeom prst="rect">
            <a:avLst/>
          </a:prstGeom>
          <a:noFill/>
        </p:spPr>
        <p:txBody>
          <a:bodyPr wrap="square" rtlCol="0">
            <a:spAutoFit/>
          </a:bodyPr>
          <a:lstStyle/>
          <a:p>
            <a:r>
              <a:rPr lang="en-US" dirty="0"/>
              <a:t>M = 6</a:t>
            </a:r>
          </a:p>
        </p:txBody>
      </p:sp>
      <p:sp>
        <p:nvSpPr>
          <p:cNvPr id="1081" name="TextBox 1080">
            <a:extLst>
              <a:ext uri="{FF2B5EF4-FFF2-40B4-BE49-F238E27FC236}">
                <a16:creationId xmlns:a16="http://schemas.microsoft.com/office/drawing/2014/main" id="{C8535431-C823-90C8-B3FD-623EC9325AC4}"/>
              </a:ext>
            </a:extLst>
          </p:cNvPr>
          <p:cNvSpPr txBox="1"/>
          <p:nvPr/>
        </p:nvSpPr>
        <p:spPr>
          <a:xfrm>
            <a:off x="39825546" y="15015319"/>
            <a:ext cx="1187116" cy="369332"/>
          </a:xfrm>
          <a:prstGeom prst="rect">
            <a:avLst/>
          </a:prstGeom>
          <a:noFill/>
        </p:spPr>
        <p:txBody>
          <a:bodyPr wrap="square" rtlCol="0">
            <a:spAutoFit/>
          </a:bodyPr>
          <a:lstStyle/>
          <a:p>
            <a:r>
              <a:rPr lang="en-US" dirty="0"/>
              <a:t>M = 10</a:t>
            </a:r>
          </a:p>
        </p:txBody>
      </p:sp>
    </p:spTree>
    <p:extLst>
      <p:ext uri="{BB962C8B-B14F-4D97-AF65-F5344CB8AC3E}">
        <p14:creationId xmlns:p14="http://schemas.microsoft.com/office/powerpoint/2010/main" val="2318746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BE0E3"/>
        </a:solidFill>
        <a:effectLst/>
      </p:bgPr>
    </p:bg>
    <p:spTree>
      <p:nvGrpSpPr>
        <p:cNvPr id="1" name="">
          <a:extLst>
            <a:ext uri="{FF2B5EF4-FFF2-40B4-BE49-F238E27FC236}">
              <a16:creationId xmlns:a16="http://schemas.microsoft.com/office/drawing/2014/main" id="{E1FA3272-7AE0-3FF1-C612-64E9F4041D1E}"/>
            </a:ext>
          </a:extLst>
        </p:cNvPr>
        <p:cNvGrpSpPr/>
        <p:nvPr/>
      </p:nvGrpSpPr>
      <p:grpSpPr>
        <a:xfrm>
          <a:off x="0" y="0"/>
          <a:ext cx="0" cy="0"/>
          <a:chOff x="0" y="0"/>
          <a:chExt cx="0" cy="0"/>
        </a:xfrm>
      </p:grpSpPr>
      <p:sp>
        <p:nvSpPr>
          <p:cNvPr id="1038" name="Rectangle 1037">
            <a:extLst>
              <a:ext uri="{FF2B5EF4-FFF2-40B4-BE49-F238E27FC236}">
                <a16:creationId xmlns:a16="http://schemas.microsoft.com/office/drawing/2014/main" id="{30E36BA4-A1A8-9307-B310-6D3C363A7416}"/>
              </a:ext>
            </a:extLst>
          </p:cNvPr>
          <p:cNvSpPr/>
          <p:nvPr/>
        </p:nvSpPr>
        <p:spPr>
          <a:xfrm>
            <a:off x="36515710" y="26596788"/>
            <a:ext cx="6459430" cy="2887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71C717F4-D324-17F9-512C-CE1FD7BF8DB7}"/>
              </a:ext>
            </a:extLst>
          </p:cNvPr>
          <p:cNvSpPr/>
          <p:nvPr/>
        </p:nvSpPr>
        <p:spPr>
          <a:xfrm>
            <a:off x="24608375" y="26585471"/>
            <a:ext cx="10972800" cy="54271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BBDB2EF-B5BD-E001-2593-AE17C56D7B45}"/>
              </a:ext>
            </a:extLst>
          </p:cNvPr>
          <p:cNvSpPr/>
          <p:nvPr/>
        </p:nvSpPr>
        <p:spPr>
          <a:xfrm>
            <a:off x="12244299" y="26585471"/>
            <a:ext cx="10972800" cy="54271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C651800-6ECF-3710-455D-8CB0C55280A8}"/>
              </a:ext>
            </a:extLst>
          </p:cNvPr>
          <p:cNvSpPr/>
          <p:nvPr/>
        </p:nvSpPr>
        <p:spPr>
          <a:xfrm>
            <a:off x="12237711" y="7224798"/>
            <a:ext cx="30737429" cy="176540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4DE0C75-D734-5EA1-773D-0A2D9E2E9049}"/>
              </a:ext>
            </a:extLst>
          </p:cNvPr>
          <p:cNvSpPr/>
          <p:nvPr/>
        </p:nvSpPr>
        <p:spPr>
          <a:xfrm>
            <a:off x="936196" y="17760462"/>
            <a:ext cx="10386638" cy="14295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F88CB48-3EFA-EB4D-E5BD-601441468919}"/>
              </a:ext>
            </a:extLst>
          </p:cNvPr>
          <p:cNvSpPr/>
          <p:nvPr/>
        </p:nvSpPr>
        <p:spPr>
          <a:xfrm>
            <a:off x="936195" y="7228685"/>
            <a:ext cx="10386638" cy="8741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E88D2A4-671E-937C-31D7-61DD71DEFE5B}"/>
              </a:ext>
            </a:extLst>
          </p:cNvPr>
          <p:cNvSpPr/>
          <p:nvPr/>
        </p:nvSpPr>
        <p:spPr>
          <a:xfrm>
            <a:off x="937854" y="914400"/>
            <a:ext cx="23774400" cy="4560418"/>
          </a:xfrm>
          <a:prstGeom prst="rect">
            <a:avLst/>
          </a:prstGeom>
          <a:solidFill>
            <a:srgbClr val="162E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275"/>
          </a:p>
        </p:txBody>
      </p:sp>
      <p:sp>
        <p:nvSpPr>
          <p:cNvPr id="12" name="TextBox 11">
            <a:extLst>
              <a:ext uri="{FF2B5EF4-FFF2-40B4-BE49-F238E27FC236}">
                <a16:creationId xmlns:a16="http://schemas.microsoft.com/office/drawing/2014/main" id="{4E914EA4-E46B-9229-CD17-1380A6DD6E08}"/>
              </a:ext>
            </a:extLst>
          </p:cNvPr>
          <p:cNvSpPr txBox="1"/>
          <p:nvPr/>
        </p:nvSpPr>
        <p:spPr>
          <a:xfrm>
            <a:off x="961308" y="900747"/>
            <a:ext cx="24536384" cy="2462213"/>
          </a:xfrm>
          <a:prstGeom prst="rect">
            <a:avLst/>
          </a:prstGeom>
          <a:noFill/>
        </p:spPr>
        <p:txBody>
          <a:bodyPr wrap="square" rtlCol="0">
            <a:spAutoFit/>
          </a:bodyPr>
          <a:lstStyle/>
          <a:p>
            <a:r>
              <a:rPr lang="en-US" sz="7700" b="1" dirty="0">
                <a:solidFill>
                  <a:schemeClr val="bg1"/>
                </a:solidFill>
                <a:latin typeface="Arial" panose="020B0604020202020204" pitchFamily="34" charset="0"/>
                <a:cs typeface="Arial" panose="020B0604020202020204" pitchFamily="34" charset="0"/>
              </a:rPr>
              <a:t>A Survey of Jovian Long Dispersion Lightning Whistlers Observed by Juno Waves</a:t>
            </a:r>
          </a:p>
        </p:txBody>
      </p:sp>
      <p:sp>
        <p:nvSpPr>
          <p:cNvPr id="13" name="TextBox 12">
            <a:extLst>
              <a:ext uri="{FF2B5EF4-FFF2-40B4-BE49-F238E27FC236}">
                <a16:creationId xmlns:a16="http://schemas.microsoft.com/office/drawing/2014/main" id="{A7B2C70A-F2C6-6A18-7F33-A127A33EFDAD}"/>
              </a:ext>
            </a:extLst>
          </p:cNvPr>
          <p:cNvSpPr txBox="1"/>
          <p:nvPr/>
        </p:nvSpPr>
        <p:spPr>
          <a:xfrm>
            <a:off x="961309" y="3239591"/>
            <a:ext cx="22711917" cy="2246769"/>
          </a:xfrm>
          <a:prstGeom prst="rect">
            <a:avLst/>
          </a:prstGeom>
          <a:noFill/>
        </p:spPr>
        <p:txBody>
          <a:bodyPr wrap="square" rtlCol="0">
            <a:spAutoFit/>
          </a:bodyPr>
          <a:lstStyle/>
          <a:p>
            <a:r>
              <a:rPr lang="en-US" sz="3500" dirty="0">
                <a:solidFill>
                  <a:schemeClr val="bg1"/>
                </a:solidFill>
                <a:latin typeface="Arial" panose="020B0604020202020204" pitchFamily="34" charset="0"/>
                <a:cs typeface="Arial" panose="020B0604020202020204" pitchFamily="34" charset="0"/>
              </a:rPr>
              <a:t>George B. Hospodarsky (george-hospodarsky@uiowa.edu), Andrew J. Milne, William S Kurth, Masafumi Imai, </a:t>
            </a:r>
          </a:p>
          <a:p>
            <a:r>
              <a:rPr lang="en-US" sz="3500" dirty="0">
                <a:solidFill>
                  <a:schemeClr val="bg1"/>
                </a:solidFill>
                <a:latin typeface="Arial" panose="020B0604020202020204" pitchFamily="34" charset="0"/>
                <a:cs typeface="Arial" panose="020B0604020202020204" pitchFamily="34" charset="0"/>
              </a:rPr>
              <a:t>Ivana </a:t>
            </a:r>
            <a:r>
              <a:rPr lang="en-US" sz="3500" dirty="0" err="1">
                <a:solidFill>
                  <a:schemeClr val="bg1"/>
                </a:solidFill>
                <a:latin typeface="Arial" panose="020B0604020202020204" pitchFamily="34" charset="0"/>
                <a:cs typeface="Arial" panose="020B0604020202020204" pitchFamily="34" charset="0"/>
              </a:rPr>
              <a:t>Kolmasova</a:t>
            </a:r>
            <a:r>
              <a:rPr lang="en-US" sz="3500" dirty="0">
                <a:solidFill>
                  <a:schemeClr val="bg1"/>
                </a:solidFill>
                <a:latin typeface="Arial" panose="020B0604020202020204" pitchFamily="34" charset="0"/>
                <a:cs typeface="Arial" panose="020B0604020202020204" pitchFamily="34" charset="0"/>
              </a:rPr>
              <a:t>, Ondrej </a:t>
            </a:r>
            <a:r>
              <a:rPr lang="en-US" sz="3500" dirty="0" err="1">
                <a:solidFill>
                  <a:schemeClr val="bg1"/>
                </a:solidFill>
                <a:latin typeface="Arial" panose="020B0604020202020204" pitchFamily="34" charset="0"/>
                <a:cs typeface="Arial" panose="020B0604020202020204" pitchFamily="34" charset="0"/>
              </a:rPr>
              <a:t>Santolik</a:t>
            </a:r>
            <a:r>
              <a:rPr lang="en-US" sz="3500" dirty="0">
                <a:solidFill>
                  <a:schemeClr val="bg1"/>
                </a:solidFill>
                <a:latin typeface="Arial" panose="020B0604020202020204" pitchFamily="34" charset="0"/>
                <a:cs typeface="Arial" panose="020B0604020202020204" pitchFamily="34" charset="0"/>
              </a:rPr>
              <a:t>, Edward Gregory </a:t>
            </a:r>
            <a:r>
              <a:rPr lang="en-US" sz="3500" dirty="0" err="1">
                <a:solidFill>
                  <a:schemeClr val="bg1"/>
                </a:solidFill>
                <a:latin typeface="Arial" panose="020B0604020202020204" pitchFamily="34" charset="0"/>
                <a:cs typeface="Arial" panose="020B0604020202020204" pitchFamily="34" charset="0"/>
              </a:rPr>
              <a:t>Nerney</a:t>
            </a:r>
            <a:r>
              <a:rPr lang="en-US" sz="3500" dirty="0">
                <a:solidFill>
                  <a:schemeClr val="bg1"/>
                </a:solidFill>
                <a:latin typeface="Arial" panose="020B0604020202020204" pitchFamily="34" charset="0"/>
                <a:cs typeface="Arial" panose="020B0604020202020204" pitchFamily="34" charset="0"/>
              </a:rPr>
              <a:t>, Fran </a:t>
            </a:r>
            <a:r>
              <a:rPr lang="en-US" sz="3500" dirty="0" err="1">
                <a:solidFill>
                  <a:schemeClr val="bg1"/>
                </a:solidFill>
                <a:latin typeface="Arial" panose="020B0604020202020204" pitchFamily="34" charset="0"/>
                <a:cs typeface="Arial" panose="020B0604020202020204" pitchFamily="34" charset="0"/>
              </a:rPr>
              <a:t>Bagenal</a:t>
            </a:r>
            <a:r>
              <a:rPr lang="en-US" sz="3500" dirty="0">
                <a:solidFill>
                  <a:schemeClr val="bg1"/>
                </a:solidFill>
                <a:latin typeface="Arial" panose="020B0604020202020204" pitchFamily="34" charset="0"/>
                <a:cs typeface="Arial" panose="020B0604020202020204" pitchFamily="34" charset="0"/>
              </a:rPr>
              <a:t>, John E P </a:t>
            </a:r>
            <a:r>
              <a:rPr lang="en-US" sz="3500" dirty="0" err="1">
                <a:solidFill>
                  <a:schemeClr val="bg1"/>
                </a:solidFill>
                <a:latin typeface="Arial" panose="020B0604020202020204" pitchFamily="34" charset="0"/>
                <a:cs typeface="Arial" panose="020B0604020202020204" pitchFamily="34" charset="0"/>
              </a:rPr>
              <a:t>Connerney</a:t>
            </a:r>
            <a:r>
              <a:rPr lang="en-US" sz="3500" dirty="0">
                <a:solidFill>
                  <a:schemeClr val="bg1"/>
                </a:solidFill>
                <a:latin typeface="Arial" panose="020B0604020202020204" pitchFamily="34" charset="0"/>
                <a:cs typeface="Arial" panose="020B0604020202020204" pitchFamily="34" charset="0"/>
              </a:rPr>
              <a:t> and Scott J Bolton</a:t>
            </a:r>
          </a:p>
          <a:p>
            <a:endParaRPr lang="en-US" sz="3500" dirty="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32E4569C-6108-FD9C-27ED-A5610E72FE75}"/>
              </a:ext>
            </a:extLst>
          </p:cNvPr>
          <p:cNvSpPr txBox="1"/>
          <p:nvPr/>
        </p:nvSpPr>
        <p:spPr>
          <a:xfrm>
            <a:off x="24700515" y="26629130"/>
            <a:ext cx="10880659" cy="5509200"/>
          </a:xfrm>
          <a:prstGeom prst="rect">
            <a:avLst/>
          </a:prstGeom>
          <a:noFill/>
        </p:spPr>
        <p:txBody>
          <a:bodyPr wrap="square" rtlCol="0">
            <a:spAutoFit/>
          </a:bodyPr>
          <a:lstStyle/>
          <a:p>
            <a:pPr marL="457200" indent="-457200">
              <a:buFont typeface="Arial" panose="020B0604020202020204" pitchFamily="34" charset="0"/>
              <a:buChar char="•"/>
            </a:pPr>
            <a:r>
              <a:rPr lang="en-US" sz="3200" dirty="0"/>
              <a:t>While detections of long dispersion whistlers happen within </a:t>
            </a:r>
            <a:r>
              <a:rPr lang="en-US" sz="3200" dirty="0" err="1"/>
              <a:t>mshell</a:t>
            </a:r>
            <a:r>
              <a:rPr lang="en-US" sz="3200" dirty="0"/>
              <a:t> 5-9, a statistical study is needed to identify how likely it is Juno sees whistlers at a given </a:t>
            </a:r>
            <a:r>
              <a:rPr lang="en-US" sz="3200" dirty="0" err="1"/>
              <a:t>mshell</a:t>
            </a:r>
            <a:r>
              <a:rPr lang="en-US" sz="3200" dirty="0"/>
              <a:t> per orbit. This statistical study can also be carried out for other parameters, such as the relative location of Io to Juno, or seasonal effects.</a:t>
            </a:r>
          </a:p>
          <a:p>
            <a:pPr marL="457200" indent="-457200">
              <a:buFont typeface="Arial" panose="020B0604020202020204" pitchFamily="34" charset="0"/>
              <a:buChar char="•"/>
            </a:pPr>
            <a:r>
              <a:rPr lang="en-US" sz="3200" dirty="0"/>
              <a:t>Figure 5 shows a deviation in the northern whistlers, which may be consistent with the Great Blue Spot, a magnetic anomaly of Jupiter. </a:t>
            </a:r>
          </a:p>
          <a:p>
            <a:pPr marL="457200" indent="-457200">
              <a:buFont typeface="Arial" panose="020B0604020202020204" pitchFamily="34" charset="0"/>
              <a:buChar char="•"/>
            </a:pPr>
            <a:r>
              <a:rPr lang="en-US" sz="3200" dirty="0"/>
              <a:t>A full paper is being written covering this work, expected 2025 publication date. </a:t>
            </a:r>
          </a:p>
        </p:txBody>
      </p:sp>
      <p:sp>
        <p:nvSpPr>
          <p:cNvPr id="19" name="TextBox 18">
            <a:extLst>
              <a:ext uri="{FF2B5EF4-FFF2-40B4-BE49-F238E27FC236}">
                <a16:creationId xmlns:a16="http://schemas.microsoft.com/office/drawing/2014/main" id="{F1B2C1E1-8D4C-C527-7C78-A7A5D7D18636}"/>
              </a:ext>
            </a:extLst>
          </p:cNvPr>
          <p:cNvSpPr txBox="1"/>
          <p:nvPr/>
        </p:nvSpPr>
        <p:spPr>
          <a:xfrm>
            <a:off x="12307634" y="26537526"/>
            <a:ext cx="10909465" cy="5632311"/>
          </a:xfrm>
          <a:prstGeom prst="rect">
            <a:avLst/>
          </a:prstGeom>
          <a:noFill/>
        </p:spPr>
        <p:txBody>
          <a:bodyPr wrap="square" rtlCol="0">
            <a:spAutoFit/>
          </a:bodyPr>
          <a:lstStyle/>
          <a:p>
            <a:pPr marL="457200" indent="-457200">
              <a:buFont typeface="Arial" panose="020B0604020202020204" pitchFamily="34" charset="0"/>
              <a:buChar char="•"/>
            </a:pPr>
            <a:r>
              <a:rPr lang="en-US" sz="3000" dirty="0"/>
              <a:t>Analyzing roughly 1000 whistlers, we identify 345 whistlers with a dispersion constant greater than 10, consisting of medium (D&lt;100) and long (D&gt;100) dispersion whistlers across many orbits. We detect whistlers both near the Io Torus and near Jupiter at </a:t>
            </a:r>
            <a:r>
              <a:rPr lang="en-US" sz="3000" dirty="0" err="1"/>
              <a:t>mshells</a:t>
            </a:r>
            <a:r>
              <a:rPr lang="en-US" sz="3000" dirty="0"/>
              <a:t> that connect through the Torus. See Figure 4 and 7</a:t>
            </a:r>
          </a:p>
          <a:p>
            <a:pPr marL="457200" indent="-457200">
              <a:buFont typeface="Arial" panose="020B0604020202020204" pitchFamily="34" charset="0"/>
              <a:buChar char="•"/>
            </a:pPr>
            <a:r>
              <a:rPr lang="en-US" sz="3000" dirty="0"/>
              <a:t>We see large variation in dispersion constant across small time scales, potentially showing small scale density structure. See Figure 6</a:t>
            </a:r>
          </a:p>
          <a:p>
            <a:pPr marL="457200" indent="-457200">
              <a:buFont typeface="Arial" panose="020B0604020202020204" pitchFamily="34" charset="0"/>
              <a:buChar char="•"/>
            </a:pPr>
            <a:r>
              <a:rPr lang="en-US" sz="3000" dirty="0"/>
              <a:t>We identify 2 examples of medium dispersion whistlers, identified by travel direction and relatively lower dispersion constant. See Figure 1 and 2</a:t>
            </a:r>
          </a:p>
        </p:txBody>
      </p:sp>
      <p:sp>
        <p:nvSpPr>
          <p:cNvPr id="20" name="TextBox 19">
            <a:extLst>
              <a:ext uri="{FF2B5EF4-FFF2-40B4-BE49-F238E27FC236}">
                <a16:creationId xmlns:a16="http://schemas.microsoft.com/office/drawing/2014/main" id="{1A92EC63-9D1F-29CD-DF0A-B9C70A681DDA}"/>
              </a:ext>
            </a:extLst>
          </p:cNvPr>
          <p:cNvSpPr txBox="1"/>
          <p:nvPr/>
        </p:nvSpPr>
        <p:spPr>
          <a:xfrm>
            <a:off x="36495574" y="26527804"/>
            <a:ext cx="6459430" cy="2893100"/>
          </a:xfrm>
          <a:prstGeom prst="rect">
            <a:avLst/>
          </a:prstGeom>
          <a:noFill/>
        </p:spPr>
        <p:txBody>
          <a:bodyPr wrap="square" rtlCol="0">
            <a:spAutoFit/>
          </a:bodyPr>
          <a:lstStyle/>
          <a:p>
            <a:r>
              <a:rPr lang="en-US" sz="2600" dirty="0"/>
              <a:t>The research at the University of Iowa is supported by NASA through Contract 699041X734 with the Southwest Research Institute. A. M.  acknowledges the use of the Space Physics Data Repository at the University of Iowa supported by the Roy J. Carver Charitable Trust. </a:t>
            </a:r>
          </a:p>
        </p:txBody>
      </p:sp>
      <p:sp>
        <p:nvSpPr>
          <p:cNvPr id="21" name="Rectangle 20">
            <a:extLst>
              <a:ext uri="{FF2B5EF4-FFF2-40B4-BE49-F238E27FC236}">
                <a16:creationId xmlns:a16="http://schemas.microsoft.com/office/drawing/2014/main" id="{C48C38D2-BE18-CC9D-9D9C-7E876A59BAEE}"/>
              </a:ext>
            </a:extLst>
          </p:cNvPr>
          <p:cNvSpPr/>
          <p:nvPr/>
        </p:nvSpPr>
        <p:spPr>
          <a:xfrm>
            <a:off x="937854" y="6358875"/>
            <a:ext cx="10386638"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Abstract</a:t>
            </a:r>
            <a:endParaRPr lang="en-US" sz="44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94F8A86-99A0-064B-E9BB-27E812EA6FBC}"/>
              </a:ext>
            </a:extLst>
          </p:cNvPr>
          <p:cNvSpPr/>
          <p:nvPr/>
        </p:nvSpPr>
        <p:spPr>
          <a:xfrm>
            <a:off x="936196" y="16884867"/>
            <a:ext cx="10386638"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Methods</a:t>
            </a:r>
            <a:endParaRPr lang="en-US" sz="4400" dirty="0">
              <a:latin typeface="Arial" panose="020B0604020202020204" pitchFamily="34" charset="0"/>
              <a:cs typeface="Arial" panose="020B0604020202020204" pitchFamily="34" charset="0"/>
            </a:endParaRPr>
          </a:p>
        </p:txBody>
      </p:sp>
      <p:pic>
        <p:nvPicPr>
          <p:cNvPr id="37" name="Picture 36" descr="A close-up of a planet&#10;&#10;Description automatically generated">
            <a:extLst>
              <a:ext uri="{FF2B5EF4-FFF2-40B4-BE49-F238E27FC236}">
                <a16:creationId xmlns:a16="http://schemas.microsoft.com/office/drawing/2014/main" id="{B5AF2E25-CC56-7DB3-DE01-3FC6803F0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6774" y="12273540"/>
            <a:ext cx="5180952" cy="3111111"/>
          </a:xfrm>
          <a:prstGeom prst="rect">
            <a:avLst/>
          </a:prstGeom>
        </p:spPr>
      </p:pic>
      <p:sp>
        <p:nvSpPr>
          <p:cNvPr id="43" name="TextBox 42">
            <a:extLst>
              <a:ext uri="{FF2B5EF4-FFF2-40B4-BE49-F238E27FC236}">
                <a16:creationId xmlns:a16="http://schemas.microsoft.com/office/drawing/2014/main" id="{79BEA0DA-898C-AC22-1FF5-B0F59944D5C0}"/>
              </a:ext>
            </a:extLst>
          </p:cNvPr>
          <p:cNvSpPr txBox="1"/>
          <p:nvPr/>
        </p:nvSpPr>
        <p:spPr>
          <a:xfrm>
            <a:off x="943383" y="7248808"/>
            <a:ext cx="10372261" cy="871007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Lightning whistlers detected and measured in a planetary magnetosphere provide valuable information about both the source lightning as well as the plasma environment the whistler propagated through. By using the frequency dispersion of the whistlers, we can determine information about the electron plasma density along the propagation path of the whistler. Juno Waves has detected thousands of lightning whistlers at Jupiter, including many that exhibiting longer dispersion times of a few seconds. These longer dispersion whistlers are detected when Juno is located on magnetic field lines that map back to the equator near the Io torus. We have measured the lightning whistler dispersion on over 1000 whistlers to perform a statistical study, focusing on the longer dispersion whistlers. We will discuss the conditions under which these emissions are detected and their properties.</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
        <p:nvSpPr>
          <p:cNvPr id="48" name="TextBox 47">
            <a:extLst>
              <a:ext uri="{FF2B5EF4-FFF2-40B4-BE49-F238E27FC236}">
                <a16:creationId xmlns:a16="http://schemas.microsoft.com/office/drawing/2014/main" id="{5562F974-7BD0-E603-AEBD-5988F9D2DF6B}"/>
              </a:ext>
            </a:extLst>
          </p:cNvPr>
          <p:cNvSpPr txBox="1"/>
          <p:nvPr/>
        </p:nvSpPr>
        <p:spPr>
          <a:xfrm>
            <a:off x="32573288" y="12445117"/>
            <a:ext cx="4363518" cy="2308324"/>
          </a:xfrm>
          <a:prstGeom prst="rect">
            <a:avLst/>
          </a:prstGeom>
          <a:noFill/>
        </p:spPr>
        <p:txBody>
          <a:bodyPr wrap="square" rtlCol="0">
            <a:spAutoFit/>
          </a:bodyPr>
          <a:lstStyle/>
          <a:p>
            <a:r>
              <a:rPr lang="en-US" sz="2400" dirty="0"/>
              <a:t>Figures 3, 4, 5: Plots showing whistler dispersion vs Juno’s distance from Jupiter, magnetic field line, and a plot showing where the whistlers originated on Jupiter.</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F5D22B0-CDB0-9459-8249-DFDFA44155A1}"/>
                  </a:ext>
                </a:extLst>
              </p:cNvPr>
              <p:cNvSpPr txBox="1"/>
              <p:nvPr/>
            </p:nvSpPr>
            <p:spPr>
              <a:xfrm>
                <a:off x="1018434" y="17823550"/>
                <a:ext cx="9935732" cy="14799116"/>
              </a:xfrm>
              <a:prstGeom prst="rect">
                <a:avLst/>
              </a:prstGeom>
              <a:noFill/>
            </p:spPr>
            <p:txBody>
              <a:bodyPr wrap="square" rtlCol="0">
                <a:spAutoFit/>
              </a:bodyPr>
              <a:lstStyle/>
              <a:p>
                <a:pPr>
                  <a:defRPr/>
                </a:pPr>
                <a:r>
                  <a:rPr lang="en-US" altLang="en-US" sz="3200" dirty="0"/>
                  <a:t>Lightning whistlers observed in planetary magnetospheres exhibit a distinct frequency dispersion (decreasing frequency with increasing time) when plotted on a frequency-time spectrogram (see Figures 1, 2, and 6 for examples of this characteristic dispersion for lightning whistlers detected at Jupiter by the Juno Waves instrument). The dispersion can be described by</a:t>
                </a:r>
                <a:r>
                  <a:rPr lang="en-US" altLang="en-US" sz="3200" dirty="0">
                    <a:ea typeface="Cambria Math" panose="02040503050406030204" pitchFamily="18" charset="0"/>
                  </a:rPr>
                  <a:t> </a:t>
                </a:r>
                <a:r>
                  <a:rPr lang="en-US" sz="3200" dirty="0">
                    <a:ea typeface="Cambria Math" panose="02040503050406030204" pitchFamily="18" charset="0"/>
                  </a:rPr>
                  <a:t> </a:t>
                </a:r>
                <a14:m>
                  <m:oMath xmlns:m="http://schemas.openxmlformats.org/officeDocument/2006/math">
                    <m:r>
                      <a:rPr lang="en-US" sz="3200" b="1" i="1">
                        <a:latin typeface="Cambria Math" panose="02040503050406030204" pitchFamily="18" charset="0"/>
                        <a:ea typeface="Cambria Math" panose="02040503050406030204" pitchFamily="18" charset="0"/>
                      </a:rPr>
                      <m:t>𝒕</m:t>
                    </m:r>
                    <m:r>
                      <a:rPr lang="en-US" sz="3200" b="1" i="1">
                        <a:latin typeface="Cambria Math" panose="02040503050406030204" pitchFamily="18" charset="0"/>
                        <a:ea typeface="Cambria Math" panose="02040503050406030204" pitchFamily="18" charset="0"/>
                      </a:rPr>
                      <m:t>= </m:t>
                    </m:r>
                    <m:f>
                      <m:fPr>
                        <m:ctrlPr>
                          <a:rPr lang="en-US" sz="3200" b="1" i="1">
                            <a:latin typeface="Cambria Math" panose="02040503050406030204" pitchFamily="18" charset="0"/>
                            <a:ea typeface="Cambria Math" panose="02040503050406030204" pitchFamily="18" charset="0"/>
                          </a:rPr>
                        </m:ctrlPr>
                      </m:fPr>
                      <m:num>
                        <m:r>
                          <a:rPr lang="en-US" sz="3200" b="1" i="1">
                            <a:latin typeface="Cambria Math" panose="02040503050406030204" pitchFamily="18" charset="0"/>
                            <a:ea typeface="Cambria Math" panose="02040503050406030204" pitchFamily="18" charset="0"/>
                          </a:rPr>
                          <m:t>𝑫</m:t>
                        </m:r>
                      </m:num>
                      <m:den>
                        <m:rad>
                          <m:radPr>
                            <m:degHide m:val="on"/>
                            <m:ctrlPr>
                              <a:rPr lang="en-US" sz="3200" b="1" i="1">
                                <a:latin typeface="Cambria Math" panose="02040503050406030204" pitchFamily="18" charset="0"/>
                                <a:ea typeface="Cambria Math" panose="02040503050406030204" pitchFamily="18" charset="0"/>
                              </a:rPr>
                            </m:ctrlPr>
                          </m:radPr>
                          <m:deg/>
                          <m:e>
                            <m:r>
                              <a:rPr lang="en-US" sz="3200" b="1" i="1">
                                <a:latin typeface="Cambria Math" panose="02040503050406030204" pitchFamily="18" charset="0"/>
                                <a:ea typeface="Cambria Math" panose="02040503050406030204" pitchFamily="18" charset="0"/>
                              </a:rPr>
                              <m:t>𝒇</m:t>
                            </m:r>
                          </m:e>
                        </m:rad>
                      </m:den>
                    </m:f>
                    <m:r>
                      <m:rPr>
                        <m:nor/>
                      </m:rPr>
                      <a:rPr lang="en-US" sz="3200" b="1" dirty="0">
                        <a:latin typeface="Cambria Math" panose="02040503050406030204" pitchFamily="18" charset="0"/>
                        <a:ea typeface="Cambria Math" panose="02040503050406030204" pitchFamily="18" charset="0"/>
                      </a:rPr>
                      <m:t> +</m:t>
                    </m:r>
                    <m:r>
                      <m:rPr>
                        <m:nor/>
                      </m:rPr>
                      <a:rPr lang="en-US" sz="3200" b="1" i="1" dirty="0">
                        <a:latin typeface="Cambria Math" panose="02040503050406030204" pitchFamily="18" charset="0"/>
                        <a:ea typeface="Cambria Math" panose="02040503050406030204" pitchFamily="18" charset="0"/>
                      </a:rPr>
                      <m:t> </m:t>
                    </m:r>
                    <m:r>
                      <m:rPr>
                        <m:nor/>
                      </m:rPr>
                      <a:rPr lang="en-US" sz="3200" b="1" i="1" dirty="0">
                        <a:latin typeface="Cambria Math" panose="02040503050406030204" pitchFamily="18" charset="0"/>
                        <a:ea typeface="Cambria Math" panose="02040503050406030204" pitchFamily="18" charset="0"/>
                      </a:rPr>
                      <m:t>t</m:t>
                    </m:r>
                    <m:r>
                      <m:rPr>
                        <m:nor/>
                      </m:rPr>
                      <a:rPr lang="en-US" sz="3200" b="1" baseline="-25000" dirty="0">
                        <a:latin typeface="Cambria Math" panose="02040503050406030204" pitchFamily="18" charset="0"/>
                        <a:ea typeface="Cambria Math" panose="02040503050406030204" pitchFamily="18" charset="0"/>
                      </a:rPr>
                      <m:t>0</m:t>
                    </m:r>
                    <m:r>
                      <m:rPr>
                        <m:nor/>
                      </m:rPr>
                      <a:rPr lang="en-US" sz="3200" b="1" i="0" baseline="-25000" dirty="0" smtClean="0">
                        <a:latin typeface="Cambria Math" panose="02040503050406030204" pitchFamily="18" charset="0"/>
                        <a:ea typeface="Cambria Math" panose="02040503050406030204" pitchFamily="18" charset="0"/>
                      </a:rPr>
                      <m:t>  </m:t>
                    </m:r>
                  </m:oMath>
                </a14:m>
                <a:r>
                  <a:rPr lang="en-US" altLang="en-US" sz="3200" dirty="0"/>
                  <a:t>where</a:t>
                </a:r>
                <a:r>
                  <a:rPr lang="en-US" altLang="en-US" sz="3200" dirty="0">
                    <a:latin typeface="+mj-lt"/>
                  </a:rPr>
                  <a:t> </a:t>
                </a:r>
                <a:r>
                  <a:rPr lang="en-US" altLang="en-US" sz="3200" b="1" dirty="0">
                    <a:latin typeface="+mj-lt"/>
                  </a:rPr>
                  <a:t>t</a:t>
                </a:r>
                <a:r>
                  <a:rPr lang="en-US" altLang="en-US" sz="3200" dirty="0">
                    <a:latin typeface="+mj-lt"/>
                  </a:rPr>
                  <a:t> </a:t>
                </a:r>
                <a:r>
                  <a:rPr lang="en-US" altLang="en-US" sz="3200" dirty="0"/>
                  <a:t>is the arrival time of the emission at frequency</a:t>
                </a:r>
                <a:r>
                  <a:rPr lang="en-US" altLang="en-US" sz="3200" dirty="0">
                    <a:latin typeface="+mj-lt"/>
                  </a:rPr>
                  <a:t> </a:t>
                </a:r>
                <a:r>
                  <a:rPr lang="en-US" altLang="en-US" sz="3200" b="1" dirty="0">
                    <a:latin typeface="+mj-lt"/>
                  </a:rPr>
                  <a:t>f</a:t>
                </a:r>
                <a:r>
                  <a:rPr lang="en-US" altLang="en-US" sz="3200" dirty="0">
                    <a:latin typeface="+mj-lt"/>
                  </a:rPr>
                  <a:t>, </a:t>
                </a:r>
                <a:r>
                  <a:rPr lang="en-US" altLang="en-US" sz="3200" b="1" dirty="0">
                    <a:latin typeface="+mj-lt"/>
                  </a:rPr>
                  <a:t>t</a:t>
                </a:r>
                <a:r>
                  <a:rPr lang="en-US" altLang="en-US" sz="3200" b="1" baseline="-25000" dirty="0">
                    <a:latin typeface="+mj-lt"/>
                  </a:rPr>
                  <a:t>o</a:t>
                </a:r>
                <a:r>
                  <a:rPr lang="en-US" altLang="en-US" sz="3200" dirty="0">
                    <a:latin typeface="+mj-lt"/>
                  </a:rPr>
                  <a:t> </a:t>
                </a:r>
                <a:r>
                  <a:rPr lang="en-US" altLang="en-US" sz="3200" dirty="0"/>
                  <a:t>is the time of the source lightning initial flash, and</a:t>
                </a:r>
                <a:r>
                  <a:rPr lang="en-US" altLang="en-US" sz="3200" dirty="0">
                    <a:latin typeface="+mj-lt"/>
                  </a:rPr>
                  <a:t> </a:t>
                </a:r>
                <a:r>
                  <a:rPr lang="en-US" altLang="en-US" sz="3200" b="1" dirty="0">
                    <a:latin typeface="+mj-lt"/>
                  </a:rPr>
                  <a:t>D</a:t>
                </a:r>
                <a:r>
                  <a:rPr lang="en-US" altLang="en-US" sz="3200" dirty="0">
                    <a:latin typeface="+mj-lt"/>
                  </a:rPr>
                  <a:t> </a:t>
                </a:r>
                <a:r>
                  <a:rPr lang="en-US" altLang="en-US" sz="3200" dirty="0"/>
                  <a:t>is the dispersion constant which depends on the integrated plasma density along the propagation path of the whistler (larger value for </a:t>
                </a:r>
                <a:r>
                  <a:rPr lang="en-US" altLang="en-US" sz="3200" b="1" dirty="0">
                    <a:latin typeface="+mj-lt"/>
                  </a:rPr>
                  <a:t>D</a:t>
                </a:r>
                <a:r>
                  <a:rPr lang="en-US" altLang="en-US" sz="3200" dirty="0">
                    <a:latin typeface="+mj-lt"/>
                  </a:rPr>
                  <a:t> </a:t>
                </a:r>
                <a:r>
                  <a:rPr lang="en-US" altLang="en-US" sz="3200" dirty="0"/>
                  <a:t>corresponds to encountering a higher integrated density) [Eckersley, 1935]. </a:t>
                </a:r>
                <a:r>
                  <a:rPr lang="en-US" altLang="en-US" sz="3200" b="1" dirty="0">
                    <a:latin typeface="+mj-lt"/>
                  </a:rPr>
                  <a:t>D</a:t>
                </a:r>
                <a:r>
                  <a:rPr lang="en-US" altLang="en-US" sz="3200" dirty="0">
                    <a:latin typeface="+mj-lt"/>
                  </a:rPr>
                  <a:t> </a:t>
                </a:r>
                <a:r>
                  <a:rPr lang="en-US" altLang="en-US" sz="3200" dirty="0"/>
                  <a:t>can be solved by plotting </a:t>
                </a:r>
                <a14:m>
                  <m:oMath xmlns:m="http://schemas.openxmlformats.org/officeDocument/2006/math">
                    <m:f>
                      <m:fPr>
                        <m:type m:val="lin"/>
                        <m:ctrlPr>
                          <a:rPr lang="en-US" altLang="en-US" sz="3200" b="1" i="1" dirty="0">
                            <a:latin typeface="Cambria Math" panose="02040503050406030204" pitchFamily="18" charset="0"/>
                          </a:rPr>
                        </m:ctrlPr>
                      </m:fPr>
                      <m:num>
                        <m:r>
                          <a:rPr lang="en-US" altLang="en-US" sz="3200" b="1" i="1" dirty="0">
                            <a:latin typeface="Cambria Math" panose="02040503050406030204" pitchFamily="18" charset="0"/>
                          </a:rPr>
                          <m:t>𝟏</m:t>
                        </m:r>
                      </m:num>
                      <m:den>
                        <m:rad>
                          <m:radPr>
                            <m:degHide m:val="on"/>
                            <m:ctrlPr>
                              <a:rPr lang="en-US" altLang="en-US" sz="3200" b="1" i="1" dirty="0">
                                <a:latin typeface="Cambria Math" panose="02040503050406030204" pitchFamily="18" charset="0"/>
                              </a:rPr>
                            </m:ctrlPr>
                          </m:radPr>
                          <m:deg/>
                          <m:e>
                            <m:r>
                              <a:rPr lang="en-US" altLang="en-US" sz="3200" b="1" i="1" dirty="0">
                                <a:latin typeface="Cambria Math" panose="02040503050406030204" pitchFamily="18" charset="0"/>
                              </a:rPr>
                              <m:t>𝒇</m:t>
                            </m:r>
                          </m:e>
                        </m:rad>
                      </m:den>
                    </m:f>
                    <m:r>
                      <a:rPr lang="en-US" altLang="en-US" sz="3200" i="1" dirty="0">
                        <a:latin typeface="Cambria Math" panose="02040503050406030204" pitchFamily="18" charset="0"/>
                      </a:rPr>
                      <m:t> </m:t>
                    </m:r>
                  </m:oMath>
                </a14:m>
                <a:r>
                  <a:rPr lang="en-US" altLang="en-US" sz="3200" dirty="0">
                    <a:latin typeface="+mj-lt"/>
                  </a:rPr>
                  <a:t> </a:t>
                </a:r>
                <a:r>
                  <a:rPr lang="en-US" altLang="en-US" sz="3200" dirty="0"/>
                  <a:t>vs. the measured arrival time of the whistler at that frequency and fitting a straight line to the resulting points. The determination of</a:t>
                </a:r>
                <a:r>
                  <a:rPr lang="en-US" altLang="en-US" sz="3200" dirty="0">
                    <a:latin typeface="+mj-lt"/>
                  </a:rPr>
                  <a:t> </a:t>
                </a:r>
                <a:r>
                  <a:rPr lang="en-US" altLang="en-US" sz="3200" b="1" dirty="0">
                    <a:latin typeface="+mj-lt"/>
                  </a:rPr>
                  <a:t>D</a:t>
                </a:r>
                <a:r>
                  <a:rPr lang="en-US" altLang="en-US" sz="3200" dirty="0">
                    <a:latin typeface="+mj-lt"/>
                  </a:rPr>
                  <a:t> </a:t>
                </a:r>
                <a:r>
                  <a:rPr lang="en-US" altLang="en-US" sz="3200" dirty="0"/>
                  <a:t>can provide valuable information about the source of the lightning and the plasma environment along the propagation path.</a:t>
                </a:r>
                <a:endParaRPr lang="en-US" sz="3200" dirty="0">
                  <a:latin typeface="+mj-lt"/>
                </a:endParaRPr>
              </a:p>
              <a:p>
                <a:pPr>
                  <a:defRPr/>
                </a:pPr>
                <a:r>
                  <a:rPr lang="en-US" altLang="en-US" sz="3200" dirty="0"/>
                  <a:t>By performing a 256-point </a:t>
                </a:r>
                <a:r>
                  <a:rPr lang="en-US" altLang="en-US" sz="3200" dirty="0" err="1"/>
                  <a:t>fft</a:t>
                </a:r>
                <a:r>
                  <a:rPr lang="en-US" altLang="en-US" sz="3200" dirty="0"/>
                  <a:t> on the LFR-Lo waveform burst data, data can be shown in a spectra. See Figure 1 and 2 for examples. Together with Jeremy </a:t>
                </a:r>
                <a:r>
                  <a:rPr lang="en-US" altLang="en-US" sz="3200" dirty="0" err="1"/>
                  <a:t>Faden</a:t>
                </a:r>
                <a:r>
                  <a:rPr lang="en-US" altLang="en-US" sz="3200" dirty="0"/>
                  <a:t>, a simple tool was made to select points along a whistler’s curve, which would then be processed and the resulting dispersion constant saved along with time information. Combining this data with Juno orbital information, whistlers can be cross referenced with various parameters.</a:t>
                </a:r>
                <a:endParaRPr lang="en-US" sz="3200" dirty="0"/>
              </a:p>
            </p:txBody>
          </p:sp>
        </mc:Choice>
        <mc:Fallback xmlns="">
          <p:sp>
            <p:nvSpPr>
              <p:cNvPr id="49" name="TextBox 48">
                <a:extLst>
                  <a:ext uri="{FF2B5EF4-FFF2-40B4-BE49-F238E27FC236}">
                    <a16:creationId xmlns:a16="http://schemas.microsoft.com/office/drawing/2014/main" id="{8C93CC69-A2A0-A402-F874-C612C86A2D3D}"/>
                  </a:ext>
                </a:extLst>
              </p:cNvPr>
              <p:cNvSpPr txBox="1">
                <a:spLocks noRot="1" noChangeAspect="1" noMove="1" noResize="1" noEditPoints="1" noAdjustHandles="1" noChangeArrowheads="1" noChangeShapeType="1" noTextEdit="1"/>
              </p:cNvSpPr>
              <p:nvPr/>
            </p:nvSpPr>
            <p:spPr>
              <a:xfrm>
                <a:off x="1018434" y="17823550"/>
                <a:ext cx="9935732" cy="14799116"/>
              </a:xfrm>
              <a:prstGeom prst="rect">
                <a:avLst/>
              </a:prstGeom>
              <a:blipFill>
                <a:blip r:embed="rId5"/>
                <a:stretch>
                  <a:fillRect l="-1534" t="-494" r="-2147"/>
                </a:stretch>
              </a:blipFill>
            </p:spPr>
            <p:txBody>
              <a:bodyPr/>
              <a:lstStyle/>
              <a:p>
                <a:r>
                  <a:rPr lang="en-US">
                    <a:noFill/>
                  </a:rPr>
                  <a:t> </a:t>
                </a:r>
              </a:p>
            </p:txBody>
          </p:sp>
        </mc:Fallback>
      </mc:AlternateContent>
      <p:pic>
        <p:nvPicPr>
          <p:cNvPr id="1076" name="Picture 1075" descr="A diagram of a graph&#10;&#10;Description automatically generated with medium confidence">
            <a:extLst>
              <a:ext uri="{FF2B5EF4-FFF2-40B4-BE49-F238E27FC236}">
                <a16:creationId xmlns:a16="http://schemas.microsoft.com/office/drawing/2014/main" id="{A3B381A3-82D9-5824-342E-16751DFA74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167284" y="12275665"/>
            <a:ext cx="5697898" cy="4180629"/>
          </a:xfrm>
          <a:prstGeom prst="rect">
            <a:avLst/>
          </a:prstGeom>
        </p:spPr>
      </p:pic>
      <p:pic>
        <p:nvPicPr>
          <p:cNvPr id="53" name="Picture 52" descr="A black background with a black square&#10;&#10;Description automatically generated">
            <a:extLst>
              <a:ext uri="{FF2B5EF4-FFF2-40B4-BE49-F238E27FC236}">
                <a16:creationId xmlns:a16="http://schemas.microsoft.com/office/drawing/2014/main" id="{D682D4B4-D71B-1477-22CB-B132489D0352}"/>
              </a:ext>
            </a:extLst>
          </p:cNvPr>
          <p:cNvPicPr>
            <a:picLocks noChangeAspect="1"/>
          </p:cNvPicPr>
          <p:nvPr/>
        </p:nvPicPr>
        <p:blipFill rotWithShape="1">
          <a:blip r:embed="rId7"/>
          <a:srcRect l="9738" t="38144" r="46303" b="34273"/>
          <a:stretch/>
        </p:blipFill>
        <p:spPr>
          <a:xfrm>
            <a:off x="24887039" y="1498219"/>
            <a:ext cx="14538841" cy="2280664"/>
          </a:xfrm>
          <a:prstGeom prst="rect">
            <a:avLst/>
          </a:prstGeom>
        </p:spPr>
      </p:pic>
      <p:pic>
        <p:nvPicPr>
          <p:cNvPr id="55" name="Picture 54" descr="A blue circle with white logo&#10;&#10;Description automatically generated">
            <a:extLst>
              <a:ext uri="{FF2B5EF4-FFF2-40B4-BE49-F238E27FC236}">
                <a16:creationId xmlns:a16="http://schemas.microsoft.com/office/drawing/2014/main" id="{2AE044B3-6B83-A300-E35B-0E1FDDB045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251379" y="528827"/>
            <a:ext cx="5522566" cy="4141925"/>
          </a:xfrm>
          <a:prstGeom prst="rect">
            <a:avLst/>
          </a:prstGeom>
        </p:spPr>
      </p:pic>
      <p:sp>
        <p:nvSpPr>
          <p:cNvPr id="57" name="Rectangle 56">
            <a:extLst>
              <a:ext uri="{FF2B5EF4-FFF2-40B4-BE49-F238E27FC236}">
                <a16:creationId xmlns:a16="http://schemas.microsoft.com/office/drawing/2014/main" id="{AF899152-DE39-07F7-2E89-D7CEA5C85AAB}"/>
              </a:ext>
            </a:extLst>
          </p:cNvPr>
          <p:cNvSpPr/>
          <p:nvPr/>
        </p:nvSpPr>
        <p:spPr>
          <a:xfrm>
            <a:off x="12244299" y="25709876"/>
            <a:ext cx="1097280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Summary</a:t>
            </a:r>
            <a:endParaRPr lang="en-US" sz="4400"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B7E3C663-23BD-218F-958E-4EFF08D85EA4}"/>
              </a:ext>
            </a:extLst>
          </p:cNvPr>
          <p:cNvSpPr/>
          <p:nvPr/>
        </p:nvSpPr>
        <p:spPr>
          <a:xfrm>
            <a:off x="24608374" y="25721192"/>
            <a:ext cx="1097280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Future Work</a:t>
            </a:r>
            <a:endParaRPr lang="en-US" sz="4400" dirty="0">
              <a:latin typeface="Arial" panose="020B0604020202020204" pitchFamily="34" charset="0"/>
              <a:cs typeface="Arial" panose="020B0604020202020204" pitchFamily="34" charset="0"/>
            </a:endParaRPr>
          </a:p>
        </p:txBody>
      </p:sp>
      <p:sp>
        <p:nvSpPr>
          <p:cNvPr id="1034" name="Rectangle 1033">
            <a:extLst>
              <a:ext uri="{FF2B5EF4-FFF2-40B4-BE49-F238E27FC236}">
                <a16:creationId xmlns:a16="http://schemas.microsoft.com/office/drawing/2014/main" id="{7AF5F03A-CBE8-89C0-A7B7-5103234518B4}"/>
              </a:ext>
            </a:extLst>
          </p:cNvPr>
          <p:cNvSpPr/>
          <p:nvPr/>
        </p:nvSpPr>
        <p:spPr>
          <a:xfrm>
            <a:off x="36515710" y="25721192"/>
            <a:ext cx="6459430" cy="875595"/>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Acknowledgements</a:t>
            </a:r>
            <a:endParaRPr lang="en-US" sz="4400" dirty="0">
              <a:latin typeface="Arial" panose="020B0604020202020204" pitchFamily="34" charset="0"/>
              <a:cs typeface="Arial" panose="020B0604020202020204" pitchFamily="34" charset="0"/>
            </a:endParaRPr>
          </a:p>
        </p:txBody>
      </p:sp>
      <p:grpSp>
        <p:nvGrpSpPr>
          <p:cNvPr id="1055" name="Group 1054">
            <a:extLst>
              <a:ext uri="{FF2B5EF4-FFF2-40B4-BE49-F238E27FC236}">
                <a16:creationId xmlns:a16="http://schemas.microsoft.com/office/drawing/2014/main" id="{9673C4A6-F5AC-8DA6-3C97-927D03BB3D31}"/>
              </a:ext>
            </a:extLst>
          </p:cNvPr>
          <p:cNvGrpSpPr/>
          <p:nvPr/>
        </p:nvGrpSpPr>
        <p:grpSpPr>
          <a:xfrm>
            <a:off x="12518468" y="17408051"/>
            <a:ext cx="13918979" cy="6899933"/>
            <a:chOff x="12228007" y="7167743"/>
            <a:chExt cx="13918979" cy="6899933"/>
          </a:xfrm>
        </p:grpSpPr>
        <p:sp>
          <p:nvSpPr>
            <p:cNvPr id="46" name="TextBox 45">
              <a:extLst>
                <a:ext uri="{FF2B5EF4-FFF2-40B4-BE49-F238E27FC236}">
                  <a16:creationId xmlns:a16="http://schemas.microsoft.com/office/drawing/2014/main" id="{4F1BA91A-A066-2A69-D0DC-8B090924533E}"/>
                </a:ext>
              </a:extLst>
            </p:cNvPr>
            <p:cNvSpPr txBox="1"/>
            <p:nvPr/>
          </p:nvSpPr>
          <p:spPr>
            <a:xfrm>
              <a:off x="12228007" y="12867347"/>
              <a:ext cx="13918979" cy="1200329"/>
            </a:xfrm>
            <a:prstGeom prst="rect">
              <a:avLst/>
            </a:prstGeom>
            <a:noFill/>
          </p:spPr>
          <p:txBody>
            <a:bodyPr wrap="square" rtlCol="0">
              <a:spAutoFit/>
            </a:bodyPr>
            <a:lstStyle/>
            <a:p>
              <a:r>
                <a:rPr lang="en-US" sz="2400" dirty="0"/>
                <a:t>Figure 2: A Medium Dispersion whistler shown between 02:51:53 and 02:51:54.</a:t>
              </a:r>
            </a:p>
            <a:p>
              <a:r>
                <a:rPr lang="en-US" sz="2400" dirty="0"/>
                <a:t>While difficult to see, signal is strong enough to obtain direction finding, proving it is a medium dispersion whistler</a:t>
              </a:r>
            </a:p>
          </p:txBody>
        </p:sp>
        <p:sp>
          <p:nvSpPr>
            <p:cNvPr id="1053" name="TextBox 1052">
              <a:extLst>
                <a:ext uri="{FF2B5EF4-FFF2-40B4-BE49-F238E27FC236}">
                  <a16:creationId xmlns:a16="http://schemas.microsoft.com/office/drawing/2014/main" id="{DD32FB6E-D481-1E62-7A65-A7C64763BC26}"/>
                </a:ext>
              </a:extLst>
            </p:cNvPr>
            <p:cNvSpPr txBox="1"/>
            <p:nvPr/>
          </p:nvSpPr>
          <p:spPr>
            <a:xfrm>
              <a:off x="18066077" y="10462854"/>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4" name="TextBox 1053">
              <a:extLst>
                <a:ext uri="{FF2B5EF4-FFF2-40B4-BE49-F238E27FC236}">
                  <a16:creationId xmlns:a16="http://schemas.microsoft.com/office/drawing/2014/main" id="{E5CB8BD0-E668-7772-152C-AFB20CD12E04}"/>
                </a:ext>
              </a:extLst>
            </p:cNvPr>
            <p:cNvSpPr txBox="1"/>
            <p:nvPr/>
          </p:nvSpPr>
          <p:spPr>
            <a:xfrm>
              <a:off x="18066077" y="7167743"/>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grpSp>
      <p:sp>
        <p:nvSpPr>
          <p:cNvPr id="1060" name="Text Box 405">
            <a:extLst>
              <a:ext uri="{FF2B5EF4-FFF2-40B4-BE49-F238E27FC236}">
                <a16:creationId xmlns:a16="http://schemas.microsoft.com/office/drawing/2014/main" id="{C55B6AA3-E8E6-63C1-1E7C-BF3B43727AF8}"/>
              </a:ext>
            </a:extLst>
          </p:cNvPr>
          <p:cNvSpPr txBox="1">
            <a:spLocks noChangeArrowheads="1"/>
          </p:cNvSpPr>
          <p:nvPr/>
        </p:nvSpPr>
        <p:spPr bwMode="auto">
          <a:xfrm>
            <a:off x="38036616" y="7234470"/>
            <a:ext cx="4938524" cy="5262979"/>
          </a:xfrm>
          <a:prstGeom prst="rect">
            <a:avLst/>
          </a:prstGeom>
          <a:solidFill>
            <a:schemeClr val="bg1"/>
          </a:solidFill>
          <a:ln w="9525">
            <a:noFill/>
            <a:miter lim="800000"/>
            <a:headEnd/>
            <a:tailEnd/>
          </a:ln>
        </p:spPr>
        <p:txBody>
          <a:bodyPr wrap="square">
            <a:spAutoFit/>
          </a:bodyPr>
          <a:lstStyle>
            <a:lvl1pPr defTabSz="4230688">
              <a:spcBef>
                <a:spcPct val="20000"/>
              </a:spcBef>
              <a:buChar char="•"/>
              <a:defRPr sz="14600">
                <a:solidFill>
                  <a:schemeClr val="tx1"/>
                </a:solidFill>
                <a:latin typeface="Arial" panose="020B0604020202020204" pitchFamily="34" charset="0"/>
              </a:defRPr>
            </a:lvl1pPr>
            <a:lvl2pPr marL="742950" indent="-285750" defTabSz="4230688">
              <a:spcBef>
                <a:spcPct val="20000"/>
              </a:spcBef>
              <a:buChar char="–"/>
              <a:defRPr sz="13100">
                <a:solidFill>
                  <a:schemeClr val="tx1"/>
                </a:solidFill>
                <a:latin typeface="Arial" panose="020B0604020202020204" pitchFamily="34" charset="0"/>
              </a:defRPr>
            </a:lvl2pPr>
            <a:lvl3pPr marL="1143000" indent="-228600" defTabSz="4230688">
              <a:spcBef>
                <a:spcPct val="20000"/>
              </a:spcBef>
              <a:buChar char="•"/>
              <a:defRPr sz="11100">
                <a:solidFill>
                  <a:schemeClr val="tx1"/>
                </a:solidFill>
                <a:latin typeface="Arial" panose="020B0604020202020204" pitchFamily="34" charset="0"/>
              </a:defRPr>
            </a:lvl3pPr>
            <a:lvl4pPr marL="1600200" indent="-228600" defTabSz="4230688">
              <a:spcBef>
                <a:spcPct val="20000"/>
              </a:spcBef>
              <a:buChar char="–"/>
              <a:defRPr sz="9100">
                <a:solidFill>
                  <a:schemeClr val="tx1"/>
                </a:solidFill>
                <a:latin typeface="Arial" panose="020B0604020202020204" pitchFamily="34" charset="0"/>
              </a:defRPr>
            </a:lvl4pPr>
            <a:lvl5pPr marL="2057400" indent="-228600" defTabSz="4230688">
              <a:spcBef>
                <a:spcPct val="20000"/>
              </a:spcBef>
              <a:buChar char="»"/>
              <a:defRPr sz="9100">
                <a:solidFill>
                  <a:schemeClr val="tx1"/>
                </a:solidFill>
                <a:latin typeface="Arial" panose="020B0604020202020204" pitchFamily="34" charset="0"/>
              </a:defRPr>
            </a:lvl5pPr>
            <a:lvl6pPr marL="25146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6pPr>
            <a:lvl7pPr marL="29718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7pPr>
            <a:lvl8pPr marL="34290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8pPr>
            <a:lvl9pPr marL="3886200" indent="-228600" defTabSz="4230688" eaLnBrk="0" fontAlgn="base" hangingPunct="0">
              <a:spcBef>
                <a:spcPct val="20000"/>
              </a:spcBef>
              <a:spcAft>
                <a:spcPct val="0"/>
              </a:spcAft>
              <a:buChar char="»"/>
              <a:defRPr sz="9100">
                <a:solidFill>
                  <a:schemeClr val="tx1"/>
                </a:solidFill>
                <a:latin typeface="Arial" panose="020B0604020202020204" pitchFamily="34" charset="0"/>
              </a:defRPr>
            </a:lvl9pPr>
          </a:lstStyle>
          <a:p>
            <a:pPr eaLnBrk="1" hangingPunct="1">
              <a:spcBef>
                <a:spcPct val="0"/>
              </a:spcBef>
              <a:buFontTx/>
              <a:buNone/>
            </a:pPr>
            <a:r>
              <a:rPr lang="en-US" altLang="en-US" sz="2400" dirty="0">
                <a:latin typeface="+mn-lt"/>
              </a:rPr>
              <a:t>Figure 7:</a:t>
            </a:r>
            <a:r>
              <a:rPr lang="en-US" altLang="en-US" sz="2400" b="1" dirty="0">
                <a:solidFill>
                  <a:srgbClr val="FF0000"/>
                </a:solidFill>
                <a:latin typeface="+mn-lt"/>
              </a:rPr>
              <a:t> </a:t>
            </a:r>
            <a:r>
              <a:rPr lang="en-US" altLang="en-US" sz="2400" dirty="0">
                <a:latin typeface="+mn-lt"/>
              </a:rPr>
              <a:t>The trajectory of Juno in the Jupiter magnetic Rho vs. Z coordinate system determined using the JRM33 and CS2020 models. Measured long dispersion whistlers are marked in red. The red A and B shows the approximate location of Juno when the whistlers shown in Figures 1 and 2, and Figure 6 respectively were detected. Lines of constant </a:t>
            </a:r>
            <a:r>
              <a:rPr lang="en-US" altLang="en-US" sz="2400" dirty="0" err="1">
                <a:latin typeface="+mn-lt"/>
              </a:rPr>
              <a:t>mshell</a:t>
            </a:r>
            <a:r>
              <a:rPr lang="en-US" altLang="en-US" sz="2400" dirty="0">
                <a:latin typeface="+mn-lt"/>
              </a:rPr>
              <a:t> at 6 and 10 R</a:t>
            </a:r>
            <a:r>
              <a:rPr lang="en-US" altLang="en-US" sz="2400" baseline="-25000" dirty="0">
                <a:latin typeface="+mn-lt"/>
              </a:rPr>
              <a:t>J</a:t>
            </a:r>
            <a:r>
              <a:rPr lang="en-US" altLang="en-US" sz="2400" dirty="0">
                <a:latin typeface="+mn-lt"/>
              </a:rPr>
              <a:t> above the magnetic equator are plotted to estimate field lines that map to the Io torus.</a:t>
            </a:r>
          </a:p>
        </p:txBody>
      </p:sp>
      <p:sp>
        <p:nvSpPr>
          <p:cNvPr id="1063" name="TextBox 1062">
            <a:extLst>
              <a:ext uri="{FF2B5EF4-FFF2-40B4-BE49-F238E27FC236}">
                <a16:creationId xmlns:a16="http://schemas.microsoft.com/office/drawing/2014/main" id="{70AA91BE-537C-E181-1C25-8E0628079B0C}"/>
              </a:ext>
            </a:extLst>
          </p:cNvPr>
          <p:cNvSpPr txBox="1"/>
          <p:nvPr/>
        </p:nvSpPr>
        <p:spPr>
          <a:xfrm>
            <a:off x="27350666" y="22749867"/>
            <a:ext cx="13918979" cy="1200329"/>
          </a:xfrm>
          <a:prstGeom prst="rect">
            <a:avLst/>
          </a:prstGeom>
          <a:noFill/>
        </p:spPr>
        <p:txBody>
          <a:bodyPr wrap="square" rtlCol="0">
            <a:spAutoFit/>
          </a:bodyPr>
          <a:lstStyle/>
          <a:p>
            <a:r>
              <a:rPr lang="en-US" sz="2400" dirty="0"/>
              <a:t>Figure 6: A cluster of multiple long dispersion whistlers, shown both in the electric field(top) and magnetic field(bottom) frequencies. Note that these whistlers have dispersion constants ranging from 545 to 1915 within a short timespan</a:t>
            </a:r>
          </a:p>
        </p:txBody>
      </p:sp>
      <p:pic>
        <p:nvPicPr>
          <p:cNvPr id="28" name="Picture 27">
            <a:extLst>
              <a:ext uri="{FF2B5EF4-FFF2-40B4-BE49-F238E27FC236}">
                <a16:creationId xmlns:a16="http://schemas.microsoft.com/office/drawing/2014/main" id="{943C9529-6150-1894-C61A-E58A9E32633C}"/>
              </a:ext>
            </a:extLst>
          </p:cNvPr>
          <p:cNvPicPr>
            <a:picLocks noChangeAspect="1"/>
          </p:cNvPicPr>
          <p:nvPr/>
        </p:nvPicPr>
        <p:blipFill>
          <a:blip r:embed="rId9"/>
          <a:stretch>
            <a:fillRect/>
          </a:stretch>
        </p:blipFill>
        <p:spPr>
          <a:xfrm>
            <a:off x="12317266" y="16766837"/>
            <a:ext cx="14554403" cy="6458851"/>
          </a:xfrm>
          <a:prstGeom prst="rect">
            <a:avLst/>
          </a:prstGeom>
        </p:spPr>
      </p:pic>
      <p:pic>
        <p:nvPicPr>
          <p:cNvPr id="1064" name="Picture 10">
            <a:extLst>
              <a:ext uri="{FF2B5EF4-FFF2-40B4-BE49-F238E27FC236}">
                <a16:creationId xmlns:a16="http://schemas.microsoft.com/office/drawing/2014/main" id="{B3B90F75-6CC6-5E67-C3E8-E1E1985D5C0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71669" y="8293270"/>
            <a:ext cx="5551162" cy="36656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B3B71541-3A36-EBD3-BC1B-FE2FA670810F}"/>
              </a:ext>
            </a:extLst>
          </p:cNvPr>
          <p:cNvPicPr>
            <a:picLocks noChangeAspect="1"/>
          </p:cNvPicPr>
          <p:nvPr/>
        </p:nvPicPr>
        <p:blipFill>
          <a:blip r:embed="rId11"/>
          <a:stretch>
            <a:fillRect/>
          </a:stretch>
        </p:blipFill>
        <p:spPr>
          <a:xfrm>
            <a:off x="27450372" y="16921017"/>
            <a:ext cx="14248708" cy="5853181"/>
          </a:xfrm>
          <a:prstGeom prst="rect">
            <a:avLst/>
          </a:prstGeom>
        </p:spPr>
      </p:pic>
      <p:pic>
        <p:nvPicPr>
          <p:cNvPr id="1065" name="Picture 12">
            <a:extLst>
              <a:ext uri="{FF2B5EF4-FFF2-40B4-BE49-F238E27FC236}">
                <a16:creationId xmlns:a16="http://schemas.microsoft.com/office/drawing/2014/main" id="{809C669A-6569-F80C-2542-6BAC17F7155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89566" y="8307741"/>
            <a:ext cx="5507329" cy="3636669"/>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7F072BA4-1DF4-E964-7721-7AC5FBB3D497}"/>
              </a:ext>
            </a:extLst>
          </p:cNvPr>
          <p:cNvGrpSpPr/>
          <p:nvPr/>
        </p:nvGrpSpPr>
        <p:grpSpPr>
          <a:xfrm>
            <a:off x="12306413" y="7030337"/>
            <a:ext cx="14229694" cy="8354314"/>
            <a:chOff x="12306413" y="7030337"/>
            <a:chExt cx="14229694" cy="8354314"/>
          </a:xfrm>
        </p:grpSpPr>
        <p:grpSp>
          <p:nvGrpSpPr>
            <p:cNvPr id="1056" name="Group 1055">
              <a:extLst>
                <a:ext uri="{FF2B5EF4-FFF2-40B4-BE49-F238E27FC236}">
                  <a16:creationId xmlns:a16="http://schemas.microsoft.com/office/drawing/2014/main" id="{EFD9F0DD-FA80-6658-ACB6-7584534E366F}"/>
                </a:ext>
              </a:extLst>
            </p:cNvPr>
            <p:cNvGrpSpPr/>
            <p:nvPr/>
          </p:nvGrpSpPr>
          <p:grpSpPr>
            <a:xfrm>
              <a:off x="12392206" y="7690636"/>
              <a:ext cx="13889711" cy="7694015"/>
              <a:chOff x="12346535" y="14241435"/>
              <a:chExt cx="13889711" cy="7694015"/>
            </a:xfrm>
          </p:grpSpPr>
          <p:sp>
            <p:nvSpPr>
              <p:cNvPr id="47" name="TextBox 46">
                <a:extLst>
                  <a:ext uri="{FF2B5EF4-FFF2-40B4-BE49-F238E27FC236}">
                    <a16:creationId xmlns:a16="http://schemas.microsoft.com/office/drawing/2014/main" id="{3D198D89-34AF-E4E5-9140-462A3E10AAFF}"/>
                  </a:ext>
                </a:extLst>
              </p:cNvPr>
              <p:cNvSpPr txBox="1"/>
              <p:nvPr/>
            </p:nvSpPr>
            <p:spPr>
              <a:xfrm>
                <a:off x="12346535" y="19996458"/>
                <a:ext cx="13889711" cy="1938992"/>
              </a:xfrm>
              <a:prstGeom prst="rect">
                <a:avLst/>
              </a:prstGeom>
              <a:noFill/>
            </p:spPr>
            <p:txBody>
              <a:bodyPr wrap="square" rtlCol="0">
                <a:spAutoFit/>
              </a:bodyPr>
              <a:lstStyle/>
              <a:p>
                <a:r>
                  <a:rPr lang="en-US" sz="2400" dirty="0"/>
                  <a:t>Figure 1: A long dispersion whistler from 02:35:12 to 02:25:22, as well as a medium dispersion whistler from 02:35:20 to 02:35:21. This is a rare case of a simultaneous medium and long dispersion whistler, which serves to visually show the difference. Direction finding identifies the whistlers having different phases, showing the medium dispersion whistler traveling up from Jupiter and the long dispersion whistler traveling through the Io torus.</a:t>
                </a:r>
              </a:p>
            </p:txBody>
          </p:sp>
          <p:sp>
            <p:nvSpPr>
              <p:cNvPr id="1049" name="TextBox 1048">
                <a:extLst>
                  <a:ext uri="{FF2B5EF4-FFF2-40B4-BE49-F238E27FC236}">
                    <a16:creationId xmlns:a16="http://schemas.microsoft.com/office/drawing/2014/main" id="{9E17392B-D604-9367-7C2A-8516ADE89305}"/>
                  </a:ext>
                </a:extLst>
              </p:cNvPr>
              <p:cNvSpPr txBox="1"/>
              <p:nvPr/>
            </p:nvSpPr>
            <p:spPr>
              <a:xfrm>
                <a:off x="24074640" y="14241435"/>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0" name="TextBox 1049">
                <a:extLst>
                  <a:ext uri="{FF2B5EF4-FFF2-40B4-BE49-F238E27FC236}">
                    <a16:creationId xmlns:a16="http://schemas.microsoft.com/office/drawing/2014/main" id="{44313010-1677-5AFD-67E0-CDBF795ADC2B}"/>
                  </a:ext>
                </a:extLst>
              </p:cNvPr>
              <p:cNvSpPr txBox="1"/>
              <p:nvPr/>
            </p:nvSpPr>
            <p:spPr>
              <a:xfrm>
                <a:off x="24052960" y="15938093"/>
                <a:ext cx="601884" cy="830997"/>
              </a:xfrm>
              <a:prstGeom prst="rect">
                <a:avLst/>
              </a:prstGeom>
              <a:noFill/>
            </p:spPr>
            <p:txBody>
              <a:bodyPr wrap="square" rtlCol="0">
                <a:spAutoFit/>
              </a:bodyPr>
              <a:lstStyle/>
              <a:p>
                <a:r>
                  <a:rPr lang="en-US" sz="4800" dirty="0">
                    <a:solidFill>
                      <a:schemeClr val="accent2"/>
                    </a:solidFill>
                  </a:rPr>
                  <a:t>M</a:t>
                </a:r>
                <a:endParaRPr lang="en-US" dirty="0">
                  <a:solidFill>
                    <a:schemeClr val="accent2"/>
                  </a:solidFill>
                </a:endParaRPr>
              </a:p>
            </p:txBody>
          </p:sp>
          <p:sp>
            <p:nvSpPr>
              <p:cNvPr id="1051" name="TextBox 1050">
                <a:extLst>
                  <a:ext uri="{FF2B5EF4-FFF2-40B4-BE49-F238E27FC236}">
                    <a16:creationId xmlns:a16="http://schemas.microsoft.com/office/drawing/2014/main" id="{08D7AE66-95A5-A8C3-7B20-8FAB2870F3AD}"/>
                  </a:ext>
                </a:extLst>
              </p:cNvPr>
              <p:cNvSpPr txBox="1"/>
              <p:nvPr/>
            </p:nvSpPr>
            <p:spPr>
              <a:xfrm>
                <a:off x="17461424" y="14287861"/>
                <a:ext cx="601884" cy="830997"/>
              </a:xfrm>
              <a:prstGeom prst="rect">
                <a:avLst/>
              </a:prstGeom>
              <a:noFill/>
            </p:spPr>
            <p:txBody>
              <a:bodyPr wrap="square" rtlCol="0">
                <a:spAutoFit/>
              </a:bodyPr>
              <a:lstStyle/>
              <a:p>
                <a:r>
                  <a:rPr lang="en-US" sz="4800" dirty="0">
                    <a:solidFill>
                      <a:schemeClr val="accent2"/>
                    </a:solidFill>
                  </a:rPr>
                  <a:t>L</a:t>
                </a:r>
                <a:endParaRPr lang="en-US" dirty="0">
                  <a:solidFill>
                    <a:schemeClr val="accent2"/>
                  </a:solidFill>
                </a:endParaRPr>
              </a:p>
            </p:txBody>
          </p:sp>
          <p:sp>
            <p:nvSpPr>
              <p:cNvPr id="1052" name="TextBox 1051">
                <a:extLst>
                  <a:ext uri="{FF2B5EF4-FFF2-40B4-BE49-F238E27FC236}">
                    <a16:creationId xmlns:a16="http://schemas.microsoft.com/office/drawing/2014/main" id="{D0CF3815-1C5F-298C-17C2-D73A632EC020}"/>
                  </a:ext>
                </a:extLst>
              </p:cNvPr>
              <p:cNvSpPr txBox="1"/>
              <p:nvPr/>
            </p:nvSpPr>
            <p:spPr>
              <a:xfrm>
                <a:off x="17461424" y="15980291"/>
                <a:ext cx="601884" cy="830997"/>
              </a:xfrm>
              <a:prstGeom prst="rect">
                <a:avLst/>
              </a:prstGeom>
              <a:noFill/>
            </p:spPr>
            <p:txBody>
              <a:bodyPr wrap="square" rtlCol="0">
                <a:spAutoFit/>
              </a:bodyPr>
              <a:lstStyle/>
              <a:p>
                <a:r>
                  <a:rPr lang="en-US" sz="4800" dirty="0">
                    <a:solidFill>
                      <a:schemeClr val="accent2"/>
                    </a:solidFill>
                  </a:rPr>
                  <a:t>L</a:t>
                </a:r>
                <a:endParaRPr lang="en-US" dirty="0">
                  <a:solidFill>
                    <a:schemeClr val="accent2"/>
                  </a:solidFill>
                </a:endParaRPr>
              </a:p>
            </p:txBody>
          </p:sp>
        </p:grpSp>
        <p:pic>
          <p:nvPicPr>
            <p:cNvPr id="22" name="Picture 4" descr="A picture containing text, screenshot, colorfulness, line&#10;&#10;Description automatically generated">
              <a:extLst>
                <a:ext uri="{FF2B5EF4-FFF2-40B4-BE49-F238E27FC236}">
                  <a16:creationId xmlns:a16="http://schemas.microsoft.com/office/drawing/2014/main" id="{AB123E00-B973-4F8B-CFED-5C7372F36844}"/>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b="23068"/>
            <a:stretch/>
          </p:blipFill>
          <p:spPr bwMode="auto">
            <a:xfrm>
              <a:off x="12317267" y="7030337"/>
              <a:ext cx="14218840" cy="646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8" name="Rectangle 1067">
              <a:extLst>
                <a:ext uri="{FF2B5EF4-FFF2-40B4-BE49-F238E27FC236}">
                  <a16:creationId xmlns:a16="http://schemas.microsoft.com/office/drawing/2014/main" id="{13CF8BFC-762C-9820-1780-3D77C7E30948}"/>
                </a:ext>
              </a:extLst>
            </p:cNvPr>
            <p:cNvSpPr/>
            <p:nvPr/>
          </p:nvSpPr>
          <p:spPr>
            <a:xfrm>
              <a:off x="12306413" y="7323279"/>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1</a:t>
              </a:r>
              <a:endParaRPr lang="en-US" dirty="0"/>
            </a:p>
          </p:txBody>
        </p:sp>
      </p:grpSp>
      <p:sp>
        <p:nvSpPr>
          <p:cNvPr id="1069" name="Rectangle 1068">
            <a:extLst>
              <a:ext uri="{FF2B5EF4-FFF2-40B4-BE49-F238E27FC236}">
                <a16:creationId xmlns:a16="http://schemas.microsoft.com/office/drawing/2014/main" id="{0B91FC8E-1C81-7CA9-9915-A7F6FB31E73B}"/>
              </a:ext>
            </a:extLst>
          </p:cNvPr>
          <p:cNvSpPr/>
          <p:nvPr/>
        </p:nvSpPr>
        <p:spPr>
          <a:xfrm>
            <a:off x="12317267" y="16372777"/>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2</a:t>
            </a:r>
            <a:endParaRPr lang="en-US" dirty="0"/>
          </a:p>
        </p:txBody>
      </p:sp>
      <p:sp>
        <p:nvSpPr>
          <p:cNvPr id="1070" name="Rectangle 1069">
            <a:extLst>
              <a:ext uri="{FF2B5EF4-FFF2-40B4-BE49-F238E27FC236}">
                <a16:creationId xmlns:a16="http://schemas.microsoft.com/office/drawing/2014/main" id="{C403DFE8-40CC-1DFA-AD4C-236185393436}"/>
              </a:ext>
            </a:extLst>
          </p:cNvPr>
          <p:cNvSpPr/>
          <p:nvPr/>
        </p:nvSpPr>
        <p:spPr>
          <a:xfrm>
            <a:off x="27324139" y="16604807"/>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6</a:t>
            </a:r>
            <a:endParaRPr lang="en-US" dirty="0"/>
          </a:p>
        </p:txBody>
      </p:sp>
      <p:sp>
        <p:nvSpPr>
          <p:cNvPr id="1071" name="Rectangle 1070">
            <a:extLst>
              <a:ext uri="{FF2B5EF4-FFF2-40B4-BE49-F238E27FC236}">
                <a16:creationId xmlns:a16="http://schemas.microsoft.com/office/drawing/2014/main" id="{6751DB87-CBDF-3D76-843D-0F51008A2384}"/>
              </a:ext>
            </a:extLst>
          </p:cNvPr>
          <p:cNvSpPr/>
          <p:nvPr/>
        </p:nvSpPr>
        <p:spPr>
          <a:xfrm>
            <a:off x="27300101" y="7745219"/>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3</a:t>
            </a:r>
            <a:endParaRPr lang="en-US" dirty="0"/>
          </a:p>
        </p:txBody>
      </p:sp>
      <p:sp>
        <p:nvSpPr>
          <p:cNvPr id="1072" name="Rectangle 1071">
            <a:extLst>
              <a:ext uri="{FF2B5EF4-FFF2-40B4-BE49-F238E27FC236}">
                <a16:creationId xmlns:a16="http://schemas.microsoft.com/office/drawing/2014/main" id="{A4447157-C142-490C-735F-40E4EF41803C}"/>
              </a:ext>
            </a:extLst>
          </p:cNvPr>
          <p:cNvSpPr/>
          <p:nvPr/>
        </p:nvSpPr>
        <p:spPr>
          <a:xfrm>
            <a:off x="32360088" y="7798204"/>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4</a:t>
            </a:r>
            <a:endParaRPr lang="en-US" dirty="0"/>
          </a:p>
        </p:txBody>
      </p:sp>
      <p:sp>
        <p:nvSpPr>
          <p:cNvPr id="45" name="Rectangle 44">
            <a:extLst>
              <a:ext uri="{FF2B5EF4-FFF2-40B4-BE49-F238E27FC236}">
                <a16:creationId xmlns:a16="http://schemas.microsoft.com/office/drawing/2014/main" id="{B76C2544-7F3C-9A50-E395-3B4A188A9AC6}"/>
              </a:ext>
            </a:extLst>
          </p:cNvPr>
          <p:cNvSpPr/>
          <p:nvPr/>
        </p:nvSpPr>
        <p:spPr>
          <a:xfrm>
            <a:off x="12237711" y="6332929"/>
            <a:ext cx="30737430" cy="895756"/>
          </a:xfrm>
          <a:prstGeom prst="rect">
            <a:avLst/>
          </a:prstGeom>
          <a:solidFill>
            <a:srgbClr val="162E6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Arial" panose="020B0604020202020204" pitchFamily="34" charset="0"/>
                <a:cs typeface="Arial" panose="020B0604020202020204" pitchFamily="34" charset="0"/>
              </a:rPr>
              <a:t>Figures</a:t>
            </a:r>
            <a:endParaRPr lang="en-US" sz="4400" dirty="0">
              <a:latin typeface="Arial" panose="020B0604020202020204" pitchFamily="34" charset="0"/>
              <a:cs typeface="Arial" panose="020B0604020202020204" pitchFamily="34" charset="0"/>
            </a:endParaRPr>
          </a:p>
        </p:txBody>
      </p:sp>
      <p:sp>
        <p:nvSpPr>
          <p:cNvPr id="1073" name="Rectangle 1072">
            <a:extLst>
              <a:ext uri="{FF2B5EF4-FFF2-40B4-BE49-F238E27FC236}">
                <a16:creationId xmlns:a16="http://schemas.microsoft.com/office/drawing/2014/main" id="{D9F57C00-D921-84CD-5450-7079DD32DDF7}"/>
              </a:ext>
            </a:extLst>
          </p:cNvPr>
          <p:cNvSpPr/>
          <p:nvPr/>
        </p:nvSpPr>
        <p:spPr>
          <a:xfrm>
            <a:off x="27324139" y="12036154"/>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5</a:t>
            </a:r>
            <a:endParaRPr lang="en-US" dirty="0"/>
          </a:p>
        </p:txBody>
      </p:sp>
      <p:sp>
        <p:nvSpPr>
          <p:cNvPr id="1074" name="Rectangle 1073">
            <a:extLst>
              <a:ext uri="{FF2B5EF4-FFF2-40B4-BE49-F238E27FC236}">
                <a16:creationId xmlns:a16="http://schemas.microsoft.com/office/drawing/2014/main" id="{08898481-6350-3B8D-5661-FE15FCBA4E8A}"/>
              </a:ext>
            </a:extLst>
          </p:cNvPr>
          <p:cNvSpPr/>
          <p:nvPr/>
        </p:nvSpPr>
        <p:spPr>
          <a:xfrm>
            <a:off x="37490571" y="12037243"/>
            <a:ext cx="612648" cy="61585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7</a:t>
            </a:r>
            <a:endParaRPr lang="en-US" dirty="0"/>
          </a:p>
        </p:txBody>
      </p:sp>
      <p:sp>
        <p:nvSpPr>
          <p:cNvPr id="1077" name="TextBox 1076">
            <a:extLst>
              <a:ext uri="{FF2B5EF4-FFF2-40B4-BE49-F238E27FC236}">
                <a16:creationId xmlns:a16="http://schemas.microsoft.com/office/drawing/2014/main" id="{BAAF2B43-7450-D48C-B59A-3523A57DDBA3}"/>
              </a:ext>
            </a:extLst>
          </p:cNvPr>
          <p:cNvSpPr txBox="1"/>
          <p:nvPr/>
        </p:nvSpPr>
        <p:spPr>
          <a:xfrm>
            <a:off x="40144344" y="13346290"/>
            <a:ext cx="437734" cy="584775"/>
          </a:xfrm>
          <a:prstGeom prst="rect">
            <a:avLst/>
          </a:prstGeom>
          <a:noFill/>
        </p:spPr>
        <p:txBody>
          <a:bodyPr wrap="square" rtlCol="0">
            <a:spAutoFit/>
          </a:bodyPr>
          <a:lstStyle/>
          <a:p>
            <a:r>
              <a:rPr lang="en-US" sz="3200" dirty="0">
                <a:solidFill>
                  <a:srgbClr val="FF0000"/>
                </a:solidFill>
              </a:rPr>
              <a:t>A</a:t>
            </a:r>
            <a:endParaRPr lang="en-US" dirty="0">
              <a:solidFill>
                <a:srgbClr val="FF0000"/>
              </a:solidFill>
            </a:endParaRPr>
          </a:p>
        </p:txBody>
      </p:sp>
      <p:sp>
        <p:nvSpPr>
          <p:cNvPr id="1078" name="TextBox 1077">
            <a:extLst>
              <a:ext uri="{FF2B5EF4-FFF2-40B4-BE49-F238E27FC236}">
                <a16:creationId xmlns:a16="http://schemas.microsoft.com/office/drawing/2014/main" id="{1854F2EB-CA67-C1C6-145A-184E90D44CB6}"/>
              </a:ext>
            </a:extLst>
          </p:cNvPr>
          <p:cNvSpPr txBox="1"/>
          <p:nvPr/>
        </p:nvSpPr>
        <p:spPr>
          <a:xfrm>
            <a:off x="38643694" y="14718365"/>
            <a:ext cx="437734" cy="584775"/>
          </a:xfrm>
          <a:prstGeom prst="rect">
            <a:avLst/>
          </a:prstGeom>
          <a:noFill/>
        </p:spPr>
        <p:txBody>
          <a:bodyPr wrap="square" rtlCol="0">
            <a:spAutoFit/>
          </a:bodyPr>
          <a:lstStyle/>
          <a:p>
            <a:r>
              <a:rPr lang="en-US" sz="3200" dirty="0">
                <a:solidFill>
                  <a:srgbClr val="FF0000"/>
                </a:solidFill>
              </a:rPr>
              <a:t>B</a:t>
            </a:r>
            <a:endParaRPr lang="en-US" dirty="0">
              <a:solidFill>
                <a:srgbClr val="FF0000"/>
              </a:solidFill>
            </a:endParaRPr>
          </a:p>
        </p:txBody>
      </p:sp>
      <p:sp>
        <p:nvSpPr>
          <p:cNvPr id="1079" name="TextBox 1078">
            <a:extLst>
              <a:ext uri="{FF2B5EF4-FFF2-40B4-BE49-F238E27FC236}">
                <a16:creationId xmlns:a16="http://schemas.microsoft.com/office/drawing/2014/main" id="{309909E0-BF82-6EEE-6893-F2431A52BF02}"/>
              </a:ext>
            </a:extLst>
          </p:cNvPr>
          <p:cNvSpPr txBox="1"/>
          <p:nvPr/>
        </p:nvSpPr>
        <p:spPr>
          <a:xfrm>
            <a:off x="38205960" y="13170547"/>
            <a:ext cx="437734" cy="584775"/>
          </a:xfrm>
          <a:prstGeom prst="rect">
            <a:avLst/>
          </a:prstGeom>
          <a:noFill/>
        </p:spPr>
        <p:txBody>
          <a:bodyPr wrap="square" rtlCol="0">
            <a:spAutoFit/>
          </a:bodyPr>
          <a:lstStyle/>
          <a:p>
            <a:r>
              <a:rPr lang="en-US" sz="3200" dirty="0">
                <a:solidFill>
                  <a:srgbClr val="FF0000"/>
                </a:solidFill>
              </a:rPr>
              <a:t>C</a:t>
            </a:r>
            <a:endParaRPr lang="en-US" dirty="0">
              <a:solidFill>
                <a:srgbClr val="FF0000"/>
              </a:solidFill>
            </a:endParaRPr>
          </a:p>
        </p:txBody>
      </p:sp>
      <p:sp>
        <p:nvSpPr>
          <p:cNvPr id="1080" name="TextBox 1079">
            <a:extLst>
              <a:ext uri="{FF2B5EF4-FFF2-40B4-BE49-F238E27FC236}">
                <a16:creationId xmlns:a16="http://schemas.microsoft.com/office/drawing/2014/main" id="{F4E700CD-2E80-D591-3C33-1615BDCE29AE}"/>
              </a:ext>
            </a:extLst>
          </p:cNvPr>
          <p:cNvSpPr txBox="1"/>
          <p:nvPr/>
        </p:nvSpPr>
        <p:spPr>
          <a:xfrm>
            <a:off x="39050719" y="14665026"/>
            <a:ext cx="805537" cy="369332"/>
          </a:xfrm>
          <a:prstGeom prst="rect">
            <a:avLst/>
          </a:prstGeom>
          <a:noFill/>
        </p:spPr>
        <p:txBody>
          <a:bodyPr wrap="square" rtlCol="0">
            <a:spAutoFit/>
          </a:bodyPr>
          <a:lstStyle/>
          <a:p>
            <a:r>
              <a:rPr lang="en-US" dirty="0"/>
              <a:t>M = 6</a:t>
            </a:r>
          </a:p>
        </p:txBody>
      </p:sp>
      <p:sp>
        <p:nvSpPr>
          <p:cNvPr id="1081" name="TextBox 1080">
            <a:extLst>
              <a:ext uri="{FF2B5EF4-FFF2-40B4-BE49-F238E27FC236}">
                <a16:creationId xmlns:a16="http://schemas.microsoft.com/office/drawing/2014/main" id="{7CB32E0E-CECC-B9CC-8A4D-6B044921777A}"/>
              </a:ext>
            </a:extLst>
          </p:cNvPr>
          <p:cNvSpPr txBox="1"/>
          <p:nvPr/>
        </p:nvSpPr>
        <p:spPr>
          <a:xfrm>
            <a:off x="39825546" y="15015319"/>
            <a:ext cx="1187116" cy="369332"/>
          </a:xfrm>
          <a:prstGeom prst="rect">
            <a:avLst/>
          </a:prstGeom>
          <a:noFill/>
        </p:spPr>
        <p:txBody>
          <a:bodyPr wrap="square" rtlCol="0">
            <a:spAutoFit/>
          </a:bodyPr>
          <a:lstStyle/>
          <a:p>
            <a:r>
              <a:rPr lang="en-US" dirty="0"/>
              <a:t>M = 10</a:t>
            </a:r>
          </a:p>
        </p:txBody>
      </p:sp>
    </p:spTree>
    <p:extLst>
      <p:ext uri="{BB962C8B-B14F-4D97-AF65-F5344CB8AC3E}">
        <p14:creationId xmlns:p14="http://schemas.microsoft.com/office/powerpoint/2010/main" val="31521328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69092</TotalTime>
  <Words>2022</Words>
  <Application>Microsoft Office PowerPoint</Application>
  <PresentationFormat>Custom</PresentationFormat>
  <Paragraphs>89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Cambria Math</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Milne, Andrew J</dc:creator>
  <cp:lastModifiedBy>Milne, Andrew J</cp:lastModifiedBy>
  <cp:revision>18</cp:revision>
  <cp:lastPrinted>2024-11-05T06:55:02Z</cp:lastPrinted>
  <dcterms:created xsi:type="dcterms:W3CDTF">2024-10-28T19:48:16Z</dcterms:created>
  <dcterms:modified xsi:type="dcterms:W3CDTF">2025-01-27T18:37:25Z</dcterms:modified>
</cp:coreProperties>
</file>